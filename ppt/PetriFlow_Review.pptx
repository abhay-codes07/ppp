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with the one-line verdict: a real, small, well-engineered runtime gate whose 'formally verified' marketing is one step ahead of its code. Then say what the audience will be able to judge for themselves by the 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Everything runs offline except demos 4, 5 and 9 which use the Azure OpenAI deployment; each has a MOCK=1 twin.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Frame it as an ordering problem: 'backup before delete' is a statement about two different tools over time. None of the usual controls have a memory across tools.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workflows/coffee/definition.ts, 80 lines. The join needs three marbles at once: that is the thing DAGs cannot express.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 explicitly: the proof technique in this project is exhaustive enumeration of small nets. Nothing symbolic. That is fine for 3-200 states.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template was designed by hand. The compiler counts states; the templates carry the guarantee. Keep this sentence, it returns in part 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Sound: adding a net can only remove behaviours. Not analysed as a whole: demo 7, loophole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dependency quirk is verified: packages/gate/node_modules/@petriflow/engine is 0.1.3 and bundles petri-ts 0.1.6 while analysis uses 0.2.0. Harmless for these nets, but two copies of the core maths in one install is a smell.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Total 597 tests. 'bun test' on a fresh clone fails until 'bun run build' because packages import each other through dist/.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packages/gate/src/compose.ts lines 86-187. This is careful code; the compose tests cover rollback and the TOCTOU re-check. Credit where due.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Design is right. Two caveats return as loopholes: examples set isToolResultError to () =&gt; false, and nothing expires a pending entry.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compiler.ts lines 388-396 live if asked: the deadlock flag and terminal states petri-ts computed are discarded.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handling differs per adapter and is where most medium loopholes live (part 5).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engine is the more complete half: SQLite persistence with optimistic versioning, timeouts, batch execution. The gate has none of that.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at petri-ts reachableStates: a queue, a seen-set, fire everything enabled. Then: invariants are checked, never discovered.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 network, no key. Shows AND composition and deferred firing in 40 lines.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Verified again on 10 Oct 2026. The failing test is a structural check over transitions; strict mode checks only unexpected terminal states and declared invariants. Revert with git checkout.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labs/openai/01-file-agent.ts. Provider chosen by env: MOCK=1, else AZURE_OPENAI_ENDPOINT (service principal), else OPENAI_API_KEY.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Shows phase 2 (manual transition) in front of the audience.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labs/openai/03-spoof.ts, verified against the mock server. Same lesson as the Darwin Goedel Machine faking a test log: protect the evidence, not only the rule.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five outputs are reproduced verbatim in docs/05. L5 contradicts the website's own landing-page trace.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the tone factual. The semantics are textbook. The analysis is minimal. The vocabulary is the problem.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packages/gate/src/*.ts imports: canFire, fire. That is the whole runtime relationship to the maths.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single most important slide for the 'fancy word' question. Read it slowly.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Quote their own BENCHMARK.md: the net constrains the orchestration, not the LLM's decisions.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 fair: the last row shows where the proof language is earned. The rest is marketing ahead of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docs/13 has the full Azure setup, the diff and a Copilot prompt. Not verified with real credentials on the authoring machine; verified on the company laptop by the presenter.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this as the map, then the two tables.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L6 is the one to dwell on: it is a design consequence of 'stateless gate', not a typo.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docs/05 has each item with file paths and the fix direction.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End part 5 on the sentence; it is the honest scope.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sources in research/sources.txt; the six most-used were re-fetched to confirm title and numbers.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DGM's faked log is the bridge to loophole L6: in both cases the agent corrupts the evidence the overseer trusts.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are the reasons a FIXED gate becomes more relevant as agents evolve, and also the limits of what it can claim.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PetriFlow's distinctive bits: the five-template DSL, deferred transitions, and adapters for five frameworks. Its verification story is behind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Then pivot: to be that trusted component it needs three things it lacks today.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R1, R2 and R4 are the ones that make the gate usable inside a self-evolving system. R5-R8 fix today's loopholes.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the recommendation and invite the audience to run labs/loopholes.ts themselves.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Verification status: everything in this deck was run on Windows 11, Bun 1.3.14, except the real-credential Azure path which the presenter verified on the company laptop.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8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9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20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25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2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notesSlide" Target="../notesSlides/notesSlide28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1828800"/>
            <a:ext cx="109728" cy="2011680"/>
          </a:xfrm>
          <a:prstGeom prst="rect">
            <a:avLst/>
          </a:prstGeom>
          <a:solidFill>
            <a:srgbClr val="2457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1463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PetriFlow, reviewed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200400"/>
            <a:ext cx="10515600" cy="8229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2200" b="0">
                <a:solidFill>
                  <a:srgbClr val="C9D3EE"/>
                </a:solidFill>
                <a:latin typeface="Calibri"/>
              </a:rPr>
              <a:t>A Petri-net tool gate for AI agents: how it works, what it proves, where it leaks, and what it means for self-evolving agents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754880"/>
            <a:ext cx="10515600" cy="1463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400" b="0">
                <a:solidFill>
                  <a:srgbClr val="9FB0DA"/>
                </a:solidFill>
                <a:latin typeface="Calibri"/>
              </a:rPr>
              <a:t>90 minutes: 7 live demos, 45 diagrams, every claim points at a file or a run</a:t>
            </a:r>
          </a:p>
          <a:p>
            <a:pPr algn="l"/>
            <a:r>
              <a:rPr sz="1400" b="0">
                <a:solidFill>
                  <a:srgbClr val="9FB0DA"/>
                </a:solidFill>
                <a:latin typeface="Calibri"/>
              </a:rPr>
              <a:t>Source: github.com/joshuaisaact/petri-flow (MIT, commit dcd6196), read and run on 8-10 October 2026</a:t>
            </a:r>
          </a:p>
          <a:p>
            <a:pPr algn="l"/>
            <a:r>
              <a:rPr sz="1400" b="0">
                <a:solidFill>
                  <a:srgbClr val="9FB0DA"/>
                </a:solidFill>
                <a:latin typeface="Calibri"/>
              </a:rPr>
              <a:t>AI tools assisted the reading; every output in this deck was re-executed or re-read by hand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7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100" b="1">
                <a:solidFill>
                  <a:srgbClr val="9FB0DA"/>
                </a:solidFill>
                <a:latin typeface="Calibri"/>
              </a:rPr>
              <a:t>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01752"/>
            <a:ext cx="11247120" cy="6400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000" b="0">
                <a:solidFill>
                  <a:srgbClr val="5B6475"/>
                </a:solidFill>
                <a:latin typeface="Calibri"/>
              </a:rPr>
              <a:t>PetriFlow: architecture review, demos, loopholes, research position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73952"/>
            <a:ext cx="100584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r"/>
            <a:r>
              <a:rPr sz="1000" b="0">
                <a:solidFill>
                  <a:srgbClr val="5B6475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80160"/>
            <a:ext cx="11064240" cy="50292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17213A"/>
                </a:solidFill>
                <a:latin typeface="Calibri"/>
              </a:rPr>
              <a:t>• 0-10   The problem, and Petri nets in five minutes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17213A"/>
                </a:solidFill>
                <a:latin typeface="Calibri"/>
              </a:rPr>
              <a:t>• 10-25  Architecture: two products, one library, five adapters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17213A"/>
                </a:solidFill>
                <a:latin typeface="Calibri"/>
              </a:rPr>
              <a:t>• 25-45  Demos 1-3: analysis is real, the gate without a model, break the proof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17213A"/>
                </a:solidFill>
                <a:latin typeface="Calibri"/>
              </a:rPr>
              <a:t>• 45-70  Demos 4-7: a real model drives the gate, approvals, forged history, five loopholes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17213A"/>
                </a:solidFill>
                <a:latin typeface="Calibri"/>
              </a:rPr>
              <a:t>• 70-80  Website vs code: what 'verified' means here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17213A"/>
                </a:solidFill>
                <a:latin typeface="Calibri"/>
              </a:rPr>
              <a:t>• 80-90  Self-evolving agents: where this sits, what to research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457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058400" cy="7315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800" b="1">
                <a:solidFill>
                  <a:srgbClr val="2457C5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651760"/>
            <a:ext cx="10515600" cy="13716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4000" b="1">
                <a:solidFill>
                  <a:srgbClr val="17213A"/>
                </a:solidFill>
                <a:latin typeface="Calibri"/>
              </a:rPr>
              <a:t>The problem, and the idea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023360"/>
            <a:ext cx="10515600" cy="10972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2000" b="0">
                <a:solidFill>
                  <a:srgbClr val="5B6475"/>
                </a:solidFill>
                <a:latin typeface="Calibri"/>
              </a:rPr>
              <a:t>Why a tool gate, and why a Petri net for the policy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73952"/>
            <a:ext cx="100584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r"/>
            <a:r>
              <a:rPr sz="1000" b="0">
                <a:solidFill>
                  <a:srgbClr val="5B6475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7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01752"/>
            <a:ext cx="11247120" cy="6400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Where should the rule live?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000" b="0">
                <a:solidFill>
                  <a:srgbClr val="5B6475"/>
                </a:solidFill>
                <a:latin typeface="Calibri"/>
              </a:rPr>
              <a:t>PetriFlow: architecture review, demos, loopholes, research position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100584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r"/>
            <a:r>
              <a:rPr sz="1000" b="0">
                <a:solidFill>
                  <a:srgbClr val="5B6475"/>
                </a:solidFill>
                <a:latin typeface="Calibri"/>
              </a:rPr>
              <a:t>4</a:t>
            </a:r>
          </a:p>
        </p:txBody>
      </p:sp>
      <p:pic>
        <p:nvPicPr>
          <p:cNvPr id="6" name="Picture 5" descr="01-where-the-rule-li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675614"/>
            <a:ext cx="6949440" cy="196397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126480"/>
            <a:ext cx="11247120" cy="365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200" b="0">
                <a:solidFill>
                  <a:srgbClr val="5B6475"/>
                </a:solidFill>
                <a:latin typeface="Calibri"/>
              </a:rPr>
              <a:t>Prompts, deny lists and if-statements each leak. PetriFlow puts the rule between the model and the tools.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0" y="1280160"/>
            <a:ext cx="4206240" cy="49377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7213A"/>
                </a:solidFill>
                <a:latin typeface="Calibri"/>
              </a:rPr>
              <a:t>• Prompt: a suggestion, not a wall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7213A"/>
                </a:solidFill>
                <a:latin typeface="Calibri"/>
              </a:rPr>
              <a:t>• Deny list: never complete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7213A"/>
                </a:solidFill>
                <a:latin typeface="Calibri"/>
              </a:rPr>
              <a:t>• If-statement in a tool: knows nothing about order across tools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7213A"/>
                </a:solidFill>
                <a:latin typeface="Calibri"/>
              </a:rPr>
              <a:t>• Approve everything: nobody reads the 40th dialog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457C5"/>
                </a:solidFill>
                <a:latin typeface="Calibri"/>
              </a:rPr>
              <a:t>• The gap: a component that knows the HISTORY of calls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7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01752"/>
            <a:ext cx="11247120" cy="6400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Petri nets in sixty seconds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000" b="0">
                <a:solidFill>
                  <a:srgbClr val="5B6475"/>
                </a:solidFill>
                <a:latin typeface="Calibri"/>
              </a:rPr>
              <a:t>PetriFlow: architecture review, demos, loopholes, research position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100584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r"/>
            <a:r>
              <a:rPr sz="1000" b="0">
                <a:solidFill>
                  <a:srgbClr val="5B6475"/>
                </a:solidFill>
                <a:latin typeface="Calibri"/>
              </a:rPr>
              <a:t>5</a:t>
            </a:r>
          </a:p>
        </p:txBody>
      </p:sp>
      <p:pic>
        <p:nvPicPr>
          <p:cNvPr id="6" name="Picture 5" descr="03-coffee-n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222390"/>
            <a:ext cx="6949440" cy="28704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126480"/>
            <a:ext cx="11247120" cy="365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200" b="0">
                <a:solidFill>
                  <a:srgbClr val="5B6475"/>
                </a:solidFill>
                <a:latin typeface="Calibri"/>
              </a:rPr>
              <a:t>Places are cups, tokens are marbles, transitions are machines. The marking is the whole state.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0" y="1280160"/>
            <a:ext cx="4206240" cy="49377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7213A"/>
                </a:solidFill>
                <a:latin typeface="Calibri"/>
              </a:rPr>
              <a:t>• Enabled: every input cup has a marble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7213A"/>
                </a:solidFill>
                <a:latin typeface="Calibri"/>
              </a:rPr>
              <a:t>• Fire: take inputs, put outputs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7213A"/>
                </a:solidFill>
                <a:latin typeface="Calibri"/>
              </a:rPr>
              <a:t>• Two branches in either order, then a join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7213A"/>
                </a:solidFill>
                <a:latin typeface="Calibri"/>
              </a:rPr>
              <a:t>• A state machine cannot say AND; a DAG has no tokens, so no budgets or locks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7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01752"/>
            <a:ext cx="11247120" cy="6400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Every possible future: reachability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000" b="0">
                <a:solidFill>
                  <a:srgbClr val="5B6475"/>
                </a:solidFill>
                <a:latin typeface="Calibri"/>
              </a:rPr>
              <a:t>PetriFlow: architecture review, demos, loopholes, research position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100584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r"/>
            <a:r>
              <a:rPr sz="1000" b="0">
                <a:solidFill>
                  <a:srgbClr val="5B6475"/>
                </a:solidFill>
                <a:latin typeface="Calibri"/>
              </a:rPr>
              <a:t>6</a:t>
            </a:r>
          </a:p>
        </p:txBody>
      </p:sp>
      <p:pic>
        <p:nvPicPr>
          <p:cNvPr id="6" name="Picture 5" descr="04-coffee-reachab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411233"/>
            <a:ext cx="6949440" cy="249273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126480"/>
            <a:ext cx="11247120" cy="365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200" b="0">
                <a:solidFill>
                  <a:srgbClr val="5B6475"/>
                </a:solidFill>
                <a:latin typeface="Calibri"/>
              </a:rPr>
              <a:t>Breadth-first search over markings. Coffee has 5 states and one terminal state.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0" y="1280160"/>
            <a:ext cx="4206240" cy="49377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7213A"/>
                </a:solidFill>
                <a:latin typeface="Calibri"/>
              </a:rPr>
              <a:t>• Reachable states = all markings you can get to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7213A"/>
                </a:solidFill>
                <a:latin typeface="Calibri"/>
              </a:rPr>
              <a:t>• Terminal state = nothing can fire (end, or deadlock)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7213A"/>
                </a:solidFill>
                <a:latin typeface="Calibri"/>
              </a:rPr>
              <a:t>• Invariant = a weighted token count that never changes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457C5"/>
                </a:solidFill>
                <a:latin typeface="Calibri"/>
              </a:rPr>
              <a:t>• This enumeration is the whole 'proof' machinery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7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01752"/>
            <a:ext cx="11247120" cy="6400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The trick: a rule becomes a shape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000" b="0">
                <a:solidFill>
                  <a:srgbClr val="5B6475"/>
                </a:solidFill>
                <a:latin typeface="Calibri"/>
              </a:rPr>
              <a:t>PetriFlow: architecture review, demos, loopholes, research position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100584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r"/>
            <a:r>
              <a:rPr sz="1000" b="0">
                <a:solidFill>
                  <a:srgbClr val="5B6475"/>
                </a:solidFill>
                <a:latin typeface="Calibri"/>
              </a:rPr>
              <a:t>7</a:t>
            </a:r>
          </a:p>
        </p:txBody>
      </p:sp>
      <p:pic>
        <p:nvPicPr>
          <p:cNvPr id="6" name="Picture 5" descr="06-rule-require-bef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524539"/>
            <a:ext cx="6949440" cy="226612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126480"/>
            <a:ext cx="11247120" cy="365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200" b="0">
                <a:solidFill>
                  <a:srgbClr val="5B6475"/>
                </a:solidFill>
                <a:latin typeface="Calibri"/>
              </a:rPr>
              <a:t>'require A before B' compiles to three cups and three machines. Reachable states: 3.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0" y="1280160"/>
            <a:ext cx="4206240" cy="49377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7213A"/>
                </a:solidFill>
                <a:latin typeface="Calibri"/>
              </a:rPr>
              <a:t>• human-approval: a MANUAL transition, 2 states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7213A"/>
                </a:solidFill>
                <a:latin typeface="Calibri"/>
              </a:rPr>
              <a:t>• block A: reads from a cup that never fills, 2 states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7213A"/>
                </a:solidFill>
                <a:latin typeface="Calibri"/>
              </a:rPr>
              <a:t>• limit A to N: a budget cup, N+2 states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7213A"/>
                </a:solidFill>
                <a:latin typeface="Calibri"/>
              </a:rPr>
              <a:t>• map tool.field /regex/ as name: rename by input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7213A"/>
                </a:solidFill>
                <a:latin typeface="Calibri"/>
              </a:rPr>
              <a:t>• Rules compose by AND across independent nets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7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01752"/>
            <a:ext cx="11247120" cy="6400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Composition by intersection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000" b="0">
                <a:solidFill>
                  <a:srgbClr val="5B6475"/>
                </a:solidFill>
                <a:latin typeface="Calibri"/>
              </a:rPr>
              <a:t>PetriFlow: architecture review, demos, loopholes, research position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100584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r"/>
            <a:r>
              <a:rPr sz="1000" b="0">
                <a:solidFill>
                  <a:srgbClr val="5B6475"/>
                </a:solidFill>
                <a:latin typeface="Calibri"/>
              </a:rPr>
              <a:t>8</a:t>
            </a:r>
          </a:p>
        </p:txBody>
      </p:sp>
      <p:pic>
        <p:nvPicPr>
          <p:cNvPr id="6" name="Picture 5" descr="10-rules-compo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23830"/>
            <a:ext cx="11247120" cy="366753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126480"/>
            <a:ext cx="11247120" cy="365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/>
            <a:r>
              <a:rPr sz="1200" b="0">
                <a:solidFill>
                  <a:srgbClr val="5B6475"/>
                </a:solidFill>
                <a:latin typeface="Calibri"/>
              </a:rPr>
              <a:t>Two nets that do not know each other. A call passes only if every net with an opinion says yes.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457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058400" cy="7315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800" b="1">
                <a:solidFill>
                  <a:srgbClr val="2457C5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651760"/>
            <a:ext cx="10515600" cy="13716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4000" b="1">
                <a:solidFill>
                  <a:srgbClr val="17213A"/>
                </a:solidFill>
                <a:latin typeface="Calibri"/>
              </a:rPr>
              <a:t>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023360"/>
            <a:ext cx="10515600" cy="10972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2000" b="0">
                <a:solidFill>
                  <a:srgbClr val="5B6475"/>
                </a:solidFill>
                <a:latin typeface="Calibri"/>
              </a:rPr>
              <a:t>Two products in one repo, one external library, five adapters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73952"/>
            <a:ext cx="100584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r"/>
            <a:r>
              <a:rPr sz="1000" b="0">
                <a:solidFill>
                  <a:srgbClr val="5B6475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7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01752"/>
            <a:ext cx="11247120" cy="6400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Two products, one library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000" b="0">
                <a:solidFill>
                  <a:srgbClr val="5B6475"/>
                </a:solidFill>
                <a:latin typeface="Calibri"/>
              </a:rPr>
              <a:t>PetriFlow: architecture review, demos, loopholes, research position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100584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r"/>
            <a:r>
              <a:rPr sz="1000" b="0">
                <a:solidFill>
                  <a:srgbClr val="5B6475"/>
                </a:solidFill>
                <a:latin typeface="Calibri"/>
              </a:rPr>
              <a:t>10</a:t>
            </a:r>
          </a:p>
        </p:txBody>
      </p:sp>
      <p:pic>
        <p:nvPicPr>
          <p:cNvPr id="6" name="Picture 5" descr="11-package-lay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91478"/>
            <a:ext cx="6949440" cy="453224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126480"/>
            <a:ext cx="11247120" cy="365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200" b="0">
                <a:solidFill>
                  <a:srgbClr val="5B6475"/>
                </a:solidFill>
                <a:latin typeface="Calibri"/>
              </a:rPr>
              <a:t>petri-ts (208 lines, external) holds all the mathematics. Engine and gate are built on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0" y="1280160"/>
            <a:ext cx="4206240" cy="49377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7213A"/>
                </a:solidFill>
                <a:latin typeface="Calibri"/>
              </a:rPr>
              <a:t>• Engine: defineWorkflow, guards, executors, Scheduler, SQLite, CLI analyse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7213A"/>
                </a:solidFill>
                <a:latin typeface="Calibri"/>
              </a:rPr>
              <a:t>• Gate: SkillNet, GateManager, four-phase decision, replay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7213A"/>
                </a:solidFill>
                <a:latin typeface="Calibri"/>
              </a:rPr>
              <a:t>• Rules: five templates to SkillNets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7213A"/>
                </a:solidFill>
                <a:latin typeface="Calibri"/>
              </a:rPr>
              <a:t>• Adapters: vercel-ai, agent-sdk, claude-code, openclaw, pi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C0392B"/>
                </a:solidFill>
                <a:latin typeface="Calibri"/>
              </a:rPr>
              <a:t>• Gate depends on engine ^0.1.3: a nested older copy with petri-ts 0.1.6 is live at runtime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7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01752"/>
            <a:ext cx="11247120" cy="6400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File map: what each package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000" b="0">
                <a:solidFill>
                  <a:srgbClr val="5B6475"/>
                </a:solidFill>
                <a:latin typeface="Calibri"/>
              </a:rPr>
              <a:t>PetriFlow: architecture review, demos, loopholes, research position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100584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r"/>
            <a:r>
              <a:rPr sz="1000" b="0">
                <a:solidFill>
                  <a:srgbClr val="5B6475"/>
                </a:solidFill>
                <a:latin typeface="Calibri"/>
              </a:rPr>
              <a:t>11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280160"/>
          <a:ext cx="11247118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04596"/>
                <a:gridCol w="1183907"/>
                <a:gridCol w="6511490"/>
                <a:gridCol w="947125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Package</a:t>
                      </a:r>
                    </a:p>
                  </a:txBody>
                  <a:tcPr>
                    <a:solidFill>
                      <a:srgbClr val="2457C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Lines (src)</a:t>
                      </a:r>
                    </a:p>
                  </a:txBody>
                  <a:tcPr>
                    <a:solidFill>
                      <a:srgbClr val="2457C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Role</a:t>
                      </a:r>
                    </a:p>
                  </a:txBody>
                  <a:tcPr>
                    <a:solidFill>
                      <a:srgbClr val="2457C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Tests</a:t>
                      </a:r>
                    </a:p>
                  </a:txBody>
                  <a:tcPr>
                    <a:solidFill>
                      <a:srgbClr val="2457C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213A"/>
                          </a:solidFill>
                          <a:latin typeface="Calibri"/>
                        </a:rPr>
                        <a:t>petri-ts (external)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213A"/>
                          </a:solidFill>
                          <a:latin typeface="Calibri"/>
                        </a:rPr>
                        <a:t>208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213A"/>
                          </a:solidFill>
                          <a:latin typeface="Calibri"/>
                        </a:rPr>
                        <a:t>canFire, fire, reachableStates (BFS, cap 10000), terminalStates, checkInvariant, analyse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213A"/>
                          </a:solidFill>
                          <a:latin typeface="Calibri"/>
                        </a:rPr>
                        <a:t>n/a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213A"/>
                          </a:solidFill>
                          <a:latin typeface="Calibri"/>
                        </a:rPr>
                        <a:t>engine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213A"/>
                          </a:solidFill>
                          <a:latin typeface="Calibri"/>
                        </a:rPr>
                        <a:t>~1,700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213A"/>
                          </a:solidFill>
                          <a:latin typeface="Calibri"/>
                        </a:rPr>
                        <a:t>defineWorkflow, toNet (strips guards), analyse, executor + DecisionProvider, Scheduler, sqliteAdapter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213A"/>
                          </a:solidFill>
                          <a:latin typeface="Calibri"/>
                        </a:rPr>
                        <a:t>125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213A"/>
                          </a:solidFill>
                          <a:latin typeface="Calibri"/>
                        </a:rPr>
                        <a:t>gate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213A"/>
                          </a:solidFill>
                          <a:latin typeface="Calibri"/>
                        </a:rPr>
                        <a:t>~880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213A"/>
                          </a:solidFill>
                          <a:latin typeface="Calibri"/>
                        </a:rPr>
                        <a:t>SkillNet types, classifyNets, composedToolCall (4 phases), autoAdvance, manager, replay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213A"/>
                          </a:solidFill>
                          <a:latin typeface="Calibri"/>
                        </a:rPr>
                        <a:t>107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213A"/>
                          </a:solidFill>
                          <a:latin typeface="Calibri"/>
                        </a:rPr>
                        <a:t>rules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213A"/>
                          </a:solidFill>
                          <a:latin typeface="Calibri"/>
                        </a:rPr>
                        <a:t>~440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213A"/>
                          </a:solidFill>
                          <a:latin typeface="Calibri"/>
                        </a:rPr>
                        <a:t>parse 5 statements, compile templates, buildToolMapper, verifyNets (counts only)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213A"/>
                          </a:solidFill>
                          <a:latin typeface="Calibri"/>
                        </a:rPr>
                        <a:t>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213A"/>
                          </a:solidFill>
                          <a:latin typeface="Calibri"/>
                        </a:rPr>
                        <a:t>vercel-ai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213A"/>
                          </a:solidFill>
                          <a:latin typeface="Calibri"/>
                        </a:rPr>
                        <a:t>~380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213A"/>
                          </a:solidFill>
                          <a:latin typeface="Calibri"/>
                        </a:rPr>
                        <a:t>wrapTools, extractReplayEntries, ToolCallBlockedError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213A"/>
                          </a:solidFill>
                          <a:latin typeface="Calibri"/>
                        </a:rPr>
                        <a:t>64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213A"/>
                          </a:solidFill>
                          <a:latin typeface="Calibri"/>
                        </a:rPr>
                        <a:t>agent-sdk / claude-code / openclaw / pi-extension / pi-assistant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213A"/>
                          </a:solidFill>
                          <a:latin typeface="Calibri"/>
                        </a:rPr>
                        <a:t>~1,500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213A"/>
                          </a:solidFill>
                          <a:latin typeface="Calibri"/>
                        </a:rPr>
                        <a:t>hooks and plugins; hand-written nets with validateToolCall and meta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213A"/>
                          </a:solidFill>
                          <a:latin typeface="Calibri"/>
                        </a:rPr>
                        <a:t>137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213A"/>
                          </a:solidFill>
                          <a:latin typeface="Calibri"/>
                        </a:rPr>
                        <a:t>cli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213A"/>
                          </a:solidFill>
                          <a:latin typeface="Calibri"/>
                        </a:rPr>
                        <a:t>~170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213A"/>
                          </a:solidFill>
                          <a:latin typeface="Calibri"/>
                        </a:rPr>
                        <a:t>petriflow analyse &lt;file&gt; [--dot|--json|--strict]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213A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213A"/>
                          </a:solidFill>
                          <a:latin typeface="Calibri"/>
                        </a:rPr>
                        <a:t>workflows / examples / comparisons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213A"/>
                          </a:solidFill>
                          <a:latin typeface="Calibri"/>
                        </a:rPr>
                        <a:t>6 workflows, 5 examples, n8n + openclaw scenario comparisons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213A"/>
                          </a:solidFill>
                          <a:latin typeface="Calibri"/>
                        </a:rPr>
                        <a:t>135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7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01752"/>
            <a:ext cx="11247120" cy="6400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One tool call, end to 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000" b="0">
                <a:solidFill>
                  <a:srgbClr val="5B6475"/>
                </a:solidFill>
                <a:latin typeface="Calibri"/>
              </a:rPr>
              <a:t>PetriFlow: architecture review, demos, loopholes, research position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100584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r"/>
            <a:r>
              <a:rPr sz="1000" b="0">
                <a:solidFill>
                  <a:srgbClr val="5B6475"/>
                </a:solidFill>
                <a:latin typeface="Calibri"/>
              </a:rPr>
              <a:t>12</a:t>
            </a:r>
          </a:p>
        </p:txBody>
      </p:sp>
      <p:pic>
        <p:nvPicPr>
          <p:cNvPr id="6" name="Picture 5" descr="13-tool-call-journe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69165"/>
            <a:ext cx="6949440" cy="377686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126480"/>
            <a:ext cx="11247120" cy="365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200" b="0">
                <a:solidFill>
                  <a:srgbClr val="5B6475"/>
                </a:solidFill>
                <a:latin typeface="Calibri"/>
              </a:rPr>
              <a:t>Four phases: classify, approvals, validate with meta rollback, commit with a re-check.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0" y="1280160"/>
            <a:ext cx="4206240" cy="49377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7213A"/>
                </a:solidFill>
                <a:latin typeface="Calibri"/>
              </a:rPr>
              <a:t>• Phase 1 per net: free / abstain / gated / blocked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7213A"/>
                </a:solidFill>
                <a:latin typeface="Calibri"/>
              </a:rPr>
              <a:t>• Any blocked wins; reason text goes to the model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7213A"/>
                </a:solidFill>
                <a:latin typeface="Calibri"/>
              </a:rPr>
              <a:t>• Phase 2: manual transitions need ctx.confirm; no UI means block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7213A"/>
                </a:solidFill>
                <a:latin typeface="Calibri"/>
              </a:rPr>
              <a:t>• Phase 3: validateToolCall, meta rolled back on reject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7213A"/>
                </a:solidFill>
                <a:latin typeface="Calibri"/>
              </a:rPr>
              <a:t>• Phase 4: re-check canFire (TOCTOU), fire or mark pending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7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01752"/>
            <a:ext cx="11247120" cy="6400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Deferred transitions: only believe success you saw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000" b="0">
                <a:solidFill>
                  <a:srgbClr val="5B6475"/>
                </a:solidFill>
                <a:latin typeface="Calibri"/>
              </a:rPr>
              <a:t>PetriFlow: architecture review, demos, loopholes, research position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100584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r"/>
            <a:r>
              <a:rPr sz="1000" b="0">
                <a:solidFill>
                  <a:srgbClr val="5B6475"/>
                </a:solidFill>
                <a:latin typeface="Calibri"/>
              </a:rPr>
              <a:t>13</a:t>
            </a:r>
          </a:p>
        </p:txBody>
      </p:sp>
      <p:pic>
        <p:nvPicPr>
          <p:cNvPr id="6" name="Picture 5" descr="14-deferred-trans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524539"/>
            <a:ext cx="6949440" cy="226612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126480"/>
            <a:ext cx="11247120" cy="365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200" b="0">
                <a:solidFill>
                  <a:srgbClr val="5B6475"/>
                </a:solidFill>
                <a:latin typeface="Calibri"/>
              </a:rPr>
              <a:t>The call is allowed, the net fires only when the tool RESULT is a success.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0" y="1280160"/>
            <a:ext cx="4206240" cy="49377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7213A"/>
                </a:solidFill>
                <a:latin typeface="Calibri"/>
              </a:rPr>
              <a:t>• backup is deferred: delete unlocks after backup succeeded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7213A"/>
                </a:solidFill>
                <a:latin typeface="Calibri"/>
              </a:rPr>
              <a:t>• Error result: pending entry dropped, nothing fires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7213A"/>
                </a:solidFill>
                <a:latin typeface="Calibri"/>
              </a:rPr>
              <a:t>• isToolResultError lets {ok:false} count as failure (0.4.0)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B7791F"/>
                </a:solidFill>
                <a:latin typeface="Calibri"/>
              </a:rPr>
              <a:t>• No timeout: a hanging tool leaves a pending entry forever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7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01752"/>
            <a:ext cx="11247120" cy="6400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The rules compiler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000" b="0">
                <a:solidFill>
                  <a:srgbClr val="5B6475"/>
                </a:solidFill>
                <a:latin typeface="Calibri"/>
              </a:rPr>
              <a:t>PetriFlow: architecture review, demos, loopholes, research position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100584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r"/>
            <a:r>
              <a:rPr sz="1000" b="0">
                <a:solidFill>
                  <a:srgbClr val="5B6475"/>
                </a:solidFill>
                <a:latin typeface="Calibri"/>
              </a:rPr>
              <a:t>14</a:t>
            </a:r>
          </a:p>
        </p:txBody>
      </p:sp>
      <p:pic>
        <p:nvPicPr>
          <p:cNvPr id="6" name="Picture 5" descr="17-rules-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826689"/>
            <a:ext cx="6949440" cy="166182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126480"/>
            <a:ext cx="11247120" cy="365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200" b="0">
                <a:solidFill>
                  <a:srgbClr val="5B6475"/>
                </a:solidFill>
                <a:latin typeface="Calibri"/>
              </a:rPr>
              <a:t>Text to verified nets in five steps, one file of 439 lines.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0" y="1280160"/>
            <a:ext cx="4206240" cy="49377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7213A"/>
                </a:solidFill>
                <a:latin typeface="Calibri"/>
              </a:rPr>
              <a:t>• parseLine: map / require / require human-approval / limit / block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7213A"/>
                </a:solidFill>
                <a:latin typeface="Calibri"/>
              </a:rPr>
              <a:t>• One template per statement, each a SkillNet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7213A"/>
                </a:solidFill>
                <a:latin typeface="Calibri"/>
              </a:rPr>
              <a:t>• buildToolMapper: regex + dot notation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C0392B"/>
                </a:solidFill>
                <a:latin typeface="Calibri"/>
              </a:rPr>
              <a:t>• verifyNets: analyse each net, keep ONLY the state count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7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01752"/>
            <a:ext cx="11247120" cy="6400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Five adapters, one core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000" b="0">
                <a:solidFill>
                  <a:srgbClr val="5B6475"/>
                </a:solidFill>
                <a:latin typeface="Calibri"/>
              </a:rPr>
              <a:t>PetriFlow: architecture review, demos, loopholes, research position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100584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r"/>
            <a:r>
              <a:rPr sz="1000" b="0">
                <a:solidFill>
                  <a:srgbClr val="5B6475"/>
                </a:solidFill>
                <a:latin typeface="Calibri"/>
              </a:rPr>
              <a:t>15</a:t>
            </a:r>
          </a:p>
        </p:txBody>
      </p:sp>
      <p:pic>
        <p:nvPicPr>
          <p:cNvPr id="6" name="Picture 5" descr="18-adap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071315"/>
            <a:ext cx="6949440" cy="317257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126480"/>
            <a:ext cx="11247120" cy="365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200" b="0">
                <a:solidFill>
                  <a:srgbClr val="5B6475"/>
                </a:solidFill>
                <a:latin typeface="Calibri"/>
              </a:rPr>
              <a:t>The core never imports a framework. Each adapter turns framework events into GateToolCall / GateToolResult.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0" y="1280160"/>
            <a:ext cx="4206240" cy="49377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7213A"/>
                </a:solidFill>
                <a:latin typeface="Calibri"/>
              </a:rPr>
              <a:t>• vercel-ai: wrap execute; state rebuilt from messages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7213A"/>
                </a:solidFill>
                <a:latin typeface="Calibri"/>
              </a:rPr>
              <a:t>• agent-sdk: in-process hooks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7213A"/>
                </a:solidFill>
                <a:latin typeface="Calibri"/>
              </a:rPr>
              <a:t>• claude-code: new process per event, JSON in /tmp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7213A"/>
                </a:solidFill>
                <a:latin typeface="Calibri"/>
              </a:rPr>
              <a:t>• openclaw: no call ids, FIFO matching per tool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7213A"/>
                </a:solidFill>
                <a:latin typeface="Calibri"/>
              </a:rPr>
              <a:t>• pi: in-process, hand-written nets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7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01752"/>
            <a:ext cx="11247120" cy="6400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The engine tick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000" b="0">
                <a:solidFill>
                  <a:srgbClr val="5B6475"/>
                </a:solidFill>
                <a:latin typeface="Calibri"/>
              </a:rPr>
              <a:t>PetriFlow: architecture review, demos, loopholes, research position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100584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r"/>
            <a:r>
              <a:rPr sz="1000" b="0">
                <a:solidFill>
                  <a:srgbClr val="5B6475"/>
                </a:solidFill>
                <a:latin typeface="Calibri"/>
              </a:rPr>
              <a:t>16</a:t>
            </a:r>
          </a:p>
        </p:txBody>
      </p:sp>
      <p:pic>
        <p:nvPicPr>
          <p:cNvPr id="6" name="Picture 5" descr="20-scheduler-ti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" y="1234440"/>
            <a:ext cx="11146536" cy="4846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126480"/>
            <a:ext cx="11247120" cy="365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/>
            <a:r>
              <a:rPr sz="1200" b="0">
                <a:solidFill>
                  <a:srgbClr val="5B6475"/>
                </a:solidFill>
                <a:latin typeface="Calibri"/>
              </a:rPr>
              <a:t>Timeouts, step or stepBatch (guards here, DecisionProvider if several enabled), persist with a version check.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457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058400" cy="7315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800" b="1">
                <a:solidFill>
                  <a:srgbClr val="2457C5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651760"/>
            <a:ext cx="10515600" cy="13716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4000" b="1">
                <a:solidFill>
                  <a:srgbClr val="17213A"/>
                </a:solidFill>
                <a:latin typeface="Calibri"/>
              </a:rPr>
              <a:t>Live demos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023360"/>
            <a:ext cx="10515600" cy="10972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2000" b="0">
                <a:solidFill>
                  <a:srgbClr val="5B6475"/>
                </a:solidFill>
                <a:latin typeface="Calibri"/>
              </a:rPr>
              <a:t>Seven runs. Every expected output below was captured on 9-10 October 2026.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73952"/>
            <a:ext cx="100584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r"/>
            <a:r>
              <a:rPr sz="1000" b="0">
                <a:solidFill>
                  <a:srgbClr val="5B6475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7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01752"/>
            <a:ext cx="11247120" cy="6400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Demo 1: the analysis is real (CLI)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000" b="0">
                <a:solidFill>
                  <a:srgbClr val="5B6475"/>
                </a:solidFill>
                <a:latin typeface="Calibri"/>
              </a:rPr>
              <a:t>PetriFlow: architecture review, demos, loopholes, research position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100584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r"/>
            <a:r>
              <a:rPr sz="1000" b="0">
                <a:solidFill>
                  <a:srgbClr val="5B6475"/>
                </a:solidFill>
                <a:latin typeface="Calibri"/>
              </a:rPr>
              <a:t>18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11247120" cy="4754880"/>
          </a:xfrm>
          <a:prstGeom prst="rect">
            <a:avLst/>
          </a:prstGeom>
          <a:solidFill>
            <a:srgbClr val="17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1064240" cy="45720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300" b="0">
                <a:solidFill>
                  <a:srgbClr val="E6EAF2"/>
                </a:solidFill>
                <a:latin typeface="Consolas"/>
              </a:rPr>
              <a:t>bun packages/cli/src/cli.ts analyse workflows/coffee/index.ts --strict</a:t>
            </a:r>
          </a:p>
          <a:p>
            <a:pPr algn="l"/>
            <a:r>
              <a:rPr sz="1300" b="0">
                <a:solidFill>
                  <a:srgbClr val="E6EAF2"/>
                </a:solidFill>
                <a:latin typeface="Consolas"/>
              </a:rPr>
              <a:t>  Reachable states: 5    Terminal states: 1 (all valid)  OK coffeeReady</a:t>
            </a:r>
          </a:p>
          <a:p>
            <a:pPr algn="l"/>
            <a:r>
              <a:rPr sz="1300" b="0">
                <a:solidFill>
                  <a:srgbClr val="E6EAF2"/>
                </a:solidFill>
                <a:latin typeface="Consolas"/>
              </a:rPr>
              <a:t/>
            </a:r>
          </a:p>
          <a:p>
            <a:pPr algn="l"/>
            <a:r>
              <a:rPr sz="1300" b="0">
                <a:solidFill>
                  <a:srgbClr val="E6EAF2"/>
                </a:solidFill>
                <a:latin typeface="Consolas"/>
              </a:rPr>
              <a:t>bun packages/cli/src/cli.ts analyse workflows/order-checkout/index.ts --strict</a:t>
            </a:r>
          </a:p>
          <a:p>
            <a:pPr algn="l"/>
            <a:r>
              <a:rPr sz="1300" b="0">
                <a:solidFill>
                  <a:srgbClr val="E6EAF2"/>
                </a:solidFill>
                <a:latin typeface="Consolas"/>
              </a:rPr>
              <a:t>  Reachable states: 4    Terminal states: 2 (all valid)</a:t>
            </a:r>
          </a:p>
          <a:p>
            <a:pPr algn="l"/>
            <a:r>
              <a:rPr sz="1300" b="0">
                <a:solidFill>
                  <a:srgbClr val="E6EAF2"/>
                </a:solidFill>
                <a:latin typeface="Consolas"/>
              </a:rPr>
              <a:t>  Invariants: 1*inventory + 1*reserved + 1*shipped = const -&gt; holds</a:t>
            </a:r>
          </a:p>
          <a:p>
            <a:pPr algn="l"/>
            <a:r>
              <a:rPr sz="1300" b="0">
                <a:solidFill>
                  <a:srgbClr val="E6EAF2"/>
                </a:solidFill>
                <a:latin typeface="Consolas"/>
              </a:rPr>
              <a:t/>
            </a:r>
          </a:p>
          <a:p>
            <a:pPr algn="l"/>
            <a:r>
              <a:rPr sz="1300" b="0">
                <a:solidFill>
                  <a:srgbClr val="E6EAF2"/>
                </a:solidFill>
                <a:latin typeface="Consolas"/>
              </a:rPr>
              <a:t>bun packages/cli/src/cli.ts analyse workflows/agent-benchmark/index.ts --strict</a:t>
            </a:r>
          </a:p>
          <a:p>
            <a:pPr algn="l"/>
            <a:r>
              <a:rPr sz="1300" b="0">
                <a:solidFill>
                  <a:srgbClr val="E6EAF2"/>
                </a:solidFill>
                <a:latin typeface="Consolas"/>
              </a:rPr>
              <a:t>  Reachable states: 196  Terminal states: 4 (all valid)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080760"/>
            <a:ext cx="11247120" cy="365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200" b="0">
                <a:solidFill>
                  <a:srgbClr val="5B6475"/>
                </a:solidFill>
                <a:latin typeface="Calibri"/>
              </a:rPr>
              <a:t>The invariant is CHECKED from weights written in the workflow definition. 196 is the number the website reuses on its landing page.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7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01752"/>
            <a:ext cx="11247120" cy="6400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Demo 2: the gate without any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000" b="0">
                <a:solidFill>
                  <a:srgbClr val="5B6475"/>
                </a:solidFill>
                <a:latin typeface="Calibri"/>
              </a:rPr>
              <a:t>PetriFlow: architecture review, demos, loopholes, research position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100584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r"/>
            <a:r>
              <a:rPr sz="1000" b="0">
                <a:solidFill>
                  <a:srgbClr val="5B6475"/>
                </a:solidFill>
                <a:latin typeface="Calibri"/>
              </a:rPr>
              <a:t>19</a:t>
            </a:r>
          </a:p>
        </p:txBody>
      </p:sp>
      <p:pic>
        <p:nvPicPr>
          <p:cNvPr id="6" name="Picture 5" descr="35-gate-play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411233"/>
            <a:ext cx="6949440" cy="249273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126480"/>
            <a:ext cx="11247120" cy="365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200" b="0">
                <a:solidFill>
                  <a:srgbClr val="5B6475"/>
                </a:solidFill>
                <a:latin typeface="Calibri"/>
              </a:rPr>
              <a:t>bun run labs/gate-playground.ts: three rules, a scripted sequence of calls, marking after each step.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0" y="1280160"/>
            <a:ext cx="4206240" cy="49377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7213A"/>
                </a:solidFill>
                <a:latin typeface="Calibri"/>
              </a:rPr>
              <a:t>• delete -&gt; BLOCKED (needs backup)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7213A"/>
                </a:solidFill>
                <a:latin typeface="Calibri"/>
              </a:rPr>
              <a:t>• backup -&gt; allow, deferred; result OK -&gt; fires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7213A"/>
                </a:solidFill>
                <a:latin typeface="Calibri"/>
              </a:rPr>
              <a:t>• delete -&gt; allow; delete again -&gt; BLOCKED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7213A"/>
                </a:solidFill>
                <a:latin typeface="Calibri"/>
              </a:rPr>
              <a:t>• rm -&gt; BLOCKED always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7213A"/>
                </a:solidFill>
                <a:latin typeface="Calibri"/>
              </a:rPr>
              <a:t>• push x3 -&gt; allow, allow, BLOCKED (limit 2)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7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01752"/>
            <a:ext cx="11247120" cy="6400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Demo 3: break the proof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000" b="0">
                <a:solidFill>
                  <a:srgbClr val="5B6475"/>
                </a:solidFill>
                <a:latin typeface="Calibri"/>
              </a:rPr>
              <a:t>PetriFlow: architecture review, demos, loopholes, research position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100584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r"/>
            <a:r>
              <a:rPr sz="1000" b="0">
                <a:solidFill>
                  <a:srgbClr val="5B6475"/>
                </a:solidFill>
                <a:latin typeface="Calibri"/>
              </a:rPr>
              <a:t>20</a:t>
            </a:r>
          </a:p>
        </p:txBody>
      </p:sp>
      <p:pic>
        <p:nvPicPr>
          <p:cNvPr id="6" name="Picture 5" descr="37-break-the-proo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600077"/>
            <a:ext cx="6949440" cy="211504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126480"/>
            <a:ext cx="11247120" cy="365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200" b="0">
                <a:solidFill>
                  <a:srgbClr val="5B6475"/>
                </a:solidFill>
                <a:latin typeface="Calibri"/>
              </a:rPr>
              <a:t>Add a bypassApproval transition to agent-benchmark. One property test fails. petriflow analyse --strict still exits 0.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0" y="1280160"/>
            <a:ext cx="4206240" cy="49377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7213A"/>
                </a:solidFill>
                <a:latin typeface="Calibri"/>
              </a:rPr>
              <a:t>• bun test workflows/agent-benchmark: 8 pass, 1 fail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7213A"/>
                </a:solidFill>
                <a:latin typeface="Calibri"/>
              </a:rPr>
              <a:t>• 'code execution always passes through humanApproval' fails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7213A"/>
                </a:solidFill>
                <a:latin typeface="Calibri"/>
              </a:rPr>
              <a:t>• --strict: 196 states, all valid, exit 0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C0392B"/>
                </a:solidFill>
                <a:latin typeface="Calibri"/>
              </a:rPr>
              <a:t>• Verified means: what someone wrote down as a property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7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01752"/>
            <a:ext cx="11247120" cy="6400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Demo 4: a real model drives the gate (lab 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000" b="0">
                <a:solidFill>
                  <a:srgbClr val="5B6475"/>
                </a:solidFill>
                <a:latin typeface="Calibri"/>
              </a:rPr>
              <a:t>PetriFlow: architecture review, demos, loopholes, research position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100584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r"/>
            <a:r>
              <a:rPr sz="1000" b="0">
                <a:solidFill>
                  <a:srgbClr val="5B6475"/>
                </a:solidFill>
                <a:latin typeface="Calibri"/>
              </a:rPr>
              <a:t>21</a:t>
            </a:r>
          </a:p>
        </p:txBody>
      </p:sp>
      <p:pic>
        <p:nvPicPr>
          <p:cNvPr id="6" name="Picture 5" descr="42-lab1-file-ag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373464"/>
            <a:ext cx="6949440" cy="256827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126480"/>
            <a:ext cx="11247120" cy="365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200" b="0">
                <a:solidFill>
                  <a:srgbClr val="5B6475"/>
                </a:solidFill>
                <a:latin typeface="Calibri"/>
              </a:rPr>
              <a:t>require backup before delete, block rm. Five tools on a scratch folder. Azure OpenAI or MOCK=1.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0" y="1280160"/>
            <a:ext cx="4206240" cy="49377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7213A"/>
                </a:solidFill>
                <a:latin typeface="Calibri"/>
              </a:rPr>
              <a:t>• Model tries delete first -&gt; blocked with a reason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7213A"/>
                </a:solidFill>
                <a:latin typeface="Calibri"/>
              </a:rPr>
              <a:t>• Reads the reason, calls backup, then delete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7213A"/>
                </a:solidFill>
                <a:latin typeface="Calibri"/>
              </a:rPr>
              <a:t>• rm stays blocked whatever it says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7213A"/>
                </a:solidFill>
                <a:latin typeface="Calibri"/>
              </a:rPr>
              <a:t>• Gate summary: blocked calls 2, files left: old-backup.tar.gz, temp.log.bak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7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01752"/>
            <a:ext cx="11247120" cy="6400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Demo 5: approvals and limits (lab 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000" b="0">
                <a:solidFill>
                  <a:srgbClr val="5B6475"/>
                </a:solidFill>
                <a:latin typeface="Calibri"/>
              </a:rPr>
              <a:t>PetriFlow: architecture review, demos, loopholes, research position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100584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r"/>
            <a:r>
              <a:rPr sz="1000" b="0">
                <a:solidFill>
                  <a:srgbClr val="5B6475"/>
                </a:solidFill>
                <a:latin typeface="Calibri"/>
              </a:rPr>
              <a:t>22</a:t>
            </a:r>
          </a:p>
        </p:txBody>
      </p:sp>
      <p:pic>
        <p:nvPicPr>
          <p:cNvPr id="6" name="Picture 5" descr="43-lab2-deploy-ag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51151"/>
            <a:ext cx="6949440" cy="181289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126480"/>
            <a:ext cx="11247120" cy="365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200" b="0">
                <a:solidFill>
                  <a:srgbClr val="5B6475"/>
                </a:solidFill>
                <a:latin typeface="Calibri"/>
              </a:rPr>
              <a:t>lint -&gt; test -&gt; deploy, human approval before deploy, limit deploy to 2 per session.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0" y="1280160"/>
            <a:ext cx="4206240" cy="49377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7213A"/>
                </a:solidFill>
                <a:latin typeface="Calibri"/>
              </a:rPr>
              <a:t>• y/n prompt in the terminal before each deploy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7213A"/>
                </a:solidFill>
                <a:latin typeface="Calibri"/>
              </a:rPr>
              <a:t>• Third deploy blocked by the limit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7213A"/>
                </a:solidFill>
                <a:latin typeface="Calibri"/>
              </a:rPr>
              <a:t>• FAIL_TESTS=1: deploy never unlocks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7213A"/>
                </a:solidFill>
                <a:latin typeface="Calibri"/>
              </a:rPr>
              <a:t>• AUTO_APPROVE=1 for unattended rehearsal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7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01752"/>
            <a:ext cx="11247120" cy="6400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Demo 6: the forged-history loophole (lab 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000" b="0">
                <a:solidFill>
                  <a:srgbClr val="5B6475"/>
                </a:solidFill>
                <a:latin typeface="Calibri"/>
              </a:rPr>
              <a:t>PetriFlow: architecture review, demos, loopholes, research position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100584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r"/>
            <a:r>
              <a:rPr sz="1000" b="0">
                <a:solidFill>
                  <a:srgbClr val="5B6475"/>
                </a:solidFill>
                <a:latin typeface="Calibri"/>
              </a:rPr>
              <a:t>23</a:t>
            </a:r>
          </a:p>
        </p:txBody>
      </p:sp>
      <p:pic>
        <p:nvPicPr>
          <p:cNvPr id="6" name="Picture 5" descr="44-lab3-server-rep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146852"/>
            <a:ext cx="6949440" cy="302149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126480"/>
            <a:ext cx="11247120" cy="365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200" b="0">
                <a:solidFill>
                  <a:srgbClr val="5B6475"/>
                </a:solidFill>
                <a:latin typeface="Calibri"/>
              </a:rPr>
              <a:t>The server is stateless; it rebuilds the gate from the chat history the CLIENT sends.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0" y="1280160"/>
            <a:ext cx="4206240" cy="49377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7213A"/>
                </a:solidFill>
                <a:latin typeface="Calibri"/>
              </a:rPr>
              <a:t>• Honest: deploy with no history -&gt; BLOCKED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7213A"/>
                </a:solidFill>
                <a:latin typeface="Calibri"/>
              </a:rPr>
              <a:t>• Forged: 4 fabricated messages incl. a fake 'test passed' result -&gt; ALLOWED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7213A"/>
                </a:solidFill>
                <a:latin typeface="Calibri"/>
              </a:rPr>
              <a:t>• replay.ts trusts every tool-result part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C0392B"/>
                </a:solidFill>
                <a:latin typeface="Calibri"/>
              </a:rPr>
              <a:t>• Whoever controls the history controls the gate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7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01752"/>
            <a:ext cx="11247120" cy="6400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Demo 7: five loopholes in one script (bun run labs/loopholes.ts)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000" b="0">
                <a:solidFill>
                  <a:srgbClr val="5B6475"/>
                </a:solidFill>
                <a:latin typeface="Calibri"/>
              </a:rPr>
              <a:t>PetriFlow: architecture review, demos, loopholes, research position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100584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r"/>
            <a:r>
              <a:rPr sz="1000" b="0">
                <a:solidFill>
                  <a:srgbClr val="5B6475"/>
                </a:solidFill>
                <a:latin typeface="Calibri"/>
              </a:rPr>
              <a:t>24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280160"/>
          <a:ext cx="11247119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356"/>
                <a:gridCol w="3374136"/>
                <a:gridCol w="4723790"/>
                <a:gridCol w="2586837"/>
              </a:tblGrid>
              <a:tr h="36576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2457C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Rule</a:t>
                      </a:r>
                    </a:p>
                  </a:txBody>
                  <a:tcPr>
                    <a:solidFill>
                      <a:srgbClr val="2457C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What happens</a:t>
                      </a:r>
                    </a:p>
                  </a:txBody>
                  <a:tcPr>
                    <a:solidFill>
                      <a:srgbClr val="2457C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Why</a:t>
                      </a:r>
                    </a:p>
                  </a:txBody>
                  <a:tcPr>
                    <a:solidFill>
                      <a:srgbClr val="2457C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3A"/>
                          </a:solidFill>
                          <a:latin typeface="Calibri"/>
                        </a:rPr>
                        <a:t>L1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3A"/>
                          </a:solidFill>
                          <a:latin typeface="Calibri"/>
                        </a:rPr>
                        <a:t>require backup before delete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3A"/>
                          </a:solidFill>
                          <a:latin typeface="Calibri"/>
                        </a:rPr>
                        <a:t>backup(readme.txt) then delete(production.db): both allowed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3A"/>
                          </a:solidFill>
                          <a:latin typeface="Calibri"/>
                        </a:rPr>
                        <a:t>Names, not data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3A"/>
                          </a:solidFill>
                          <a:latin typeface="Calibri"/>
                        </a:rPr>
                        <a:t>L2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3A"/>
                          </a:solidFill>
                          <a:latin typeface="Calibri"/>
                        </a:rPr>
                        <a:t>map bash.command rm as delete; block delete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3A"/>
                          </a:solidFill>
                          <a:latin typeface="Calibri"/>
                        </a:rPr>
                        <a:t>rm -rf blocked; find -delete and shutil.rmtree allowed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3A"/>
                          </a:solidFill>
                          <a:latin typeface="Calibri"/>
                        </a:rPr>
                        <a:t>Regex is a deny list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3A"/>
                          </a:solidFill>
                          <a:latin typeface="Calibri"/>
                        </a:rPr>
                        <a:t>L3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3A"/>
                          </a:solidFill>
                          <a:latin typeface="Calibri"/>
                        </a:rPr>
                        <a:t>require a before b; require b before a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3A"/>
                          </a:solidFill>
                          <a:latin typeface="Calibri"/>
                        </a:rPr>
                        <a:t>compile() reports 3+3 states; a and b both blocked forever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3A"/>
                          </a:solidFill>
                          <a:latin typeface="Calibri"/>
                        </a:rPr>
                        <a:t>Composition never analysed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3A"/>
                          </a:solidFill>
                          <a:latin typeface="Calibri"/>
                        </a:rPr>
                        <a:t>L4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3A"/>
                          </a:solidFill>
                          <a:latin typeface="Calibri"/>
                        </a:rPr>
                        <a:t>limit push to 2 per session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3A"/>
                          </a:solidFill>
                          <a:latin typeface="Calibri"/>
                        </a:rPr>
                        <a:t>two FAILED pushes spend the budget; third blocked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3A"/>
                          </a:solidFill>
                          <a:latin typeface="Calibri"/>
                        </a:rPr>
                        <a:t>Limit is not deferred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3A"/>
                          </a:solidFill>
                          <a:latin typeface="Calibri"/>
                        </a:rPr>
                        <a:t>L5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3A"/>
                          </a:solidFill>
                          <a:latin typeface="Calibri"/>
                        </a:rPr>
                        <a:t>limit whatsapp.send to 1 per whatsapp.lookup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3A"/>
                          </a:solidFill>
                          <a:latin typeface="Calibri"/>
                        </a:rPr>
                        <a:t>first lookup BLOCKED (site says OK)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7213A"/>
                          </a:solidFill>
                          <a:latin typeface="Calibri"/>
                        </a:rPr>
                        <a:t>Refill needs a 'spent' token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457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058400" cy="7315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800" b="1">
                <a:solidFill>
                  <a:srgbClr val="2457C5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651760"/>
            <a:ext cx="10515600" cy="13716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4000" b="1">
                <a:solidFill>
                  <a:srgbClr val="17213A"/>
                </a:solidFill>
                <a:latin typeface="Calibri"/>
              </a:rPr>
              <a:t>Is the mathematics real?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023360"/>
            <a:ext cx="10515600" cy="10972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2000" b="0">
                <a:solidFill>
                  <a:srgbClr val="5B6475"/>
                </a:solidFill>
                <a:latin typeface="Calibri"/>
              </a:rPr>
              <a:t>Or is 'Petri net' a fancy word on top of a wrapper?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73952"/>
            <a:ext cx="100584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r"/>
            <a:r>
              <a:rPr sz="1000" b="0">
                <a:solidFill>
                  <a:srgbClr val="5B6475"/>
                </a:solidFill>
                <a:latin typeface="Calibri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7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01752"/>
            <a:ext cx="11247120" cy="6400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What is real, what is missing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000" b="0">
                <a:solidFill>
                  <a:srgbClr val="5B6475"/>
                </a:solidFill>
                <a:latin typeface="Calibri"/>
              </a:rPr>
              <a:t>PetriFlow: architecture review, demos, loopholes, research position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100584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r"/>
            <a:r>
              <a:rPr sz="1000" b="0">
                <a:solidFill>
                  <a:srgbClr val="5B6475"/>
                </a:solidFill>
                <a:latin typeface="Calibri"/>
              </a:rPr>
              <a:t>26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5486400" cy="45720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61872"/>
            <a:ext cx="5486400" cy="4114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Real and standard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691640"/>
            <a:ext cx="5486400" cy="4480560"/>
          </a:xfrm>
          <a:prstGeom prst="rect">
            <a:avLst/>
          </a:prstGeom>
          <a:solidFill>
            <a:srgbClr val="F5F7FB"/>
          </a:solidFill>
          <a:ln w="9525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783080"/>
            <a:ext cx="5303520" cy="42976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7213A"/>
                </a:solidFill>
                <a:latin typeface="Calibri"/>
              </a:rPr>
              <a:t>• Place/transition nets with multiplicity (canFire counts)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7213A"/>
                </a:solidFill>
                <a:latin typeface="Calibri"/>
              </a:rPr>
              <a:t>• Reachability graph by BFS; terminal states; deadlock flag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7213A"/>
                </a:solidFill>
                <a:latin typeface="Calibri"/>
              </a:rPr>
              <a:t>• Invariant CHECKING from user-supplied weights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7213A"/>
                </a:solidFill>
                <a:latin typeface="Calibri"/>
              </a:rPr>
              <a:t>• True concurrency (both interleavings reachable)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7213A"/>
                </a:solidFill>
                <a:latin typeface="Calibri"/>
              </a:rPr>
              <a:t>• Runtime gate = enabled-transition rule on the marking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7213A"/>
                </a:solidFill>
                <a:latin typeface="Calibri"/>
              </a:rPr>
              <a:t>• AND composition is sound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234440"/>
            <a:ext cx="5486400" cy="4572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1261872"/>
            <a:ext cx="5486400" cy="4114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Not there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691640"/>
            <a:ext cx="5486400" cy="4480560"/>
          </a:xfrm>
          <a:prstGeom prst="rect">
            <a:avLst/>
          </a:prstGeom>
          <a:solidFill>
            <a:srgbClr val="F5F7FB"/>
          </a:solidFill>
          <a:ln w="9525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1783080"/>
            <a:ext cx="5303520" cy="42976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7213A"/>
                </a:solidFill>
                <a:latin typeface="Calibri"/>
              </a:rPr>
              <a:t>• No invariant COMPUTATION (no incidence matrix)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7213A"/>
                </a:solidFill>
                <a:latin typeface="Calibri"/>
              </a:rPr>
              <a:t>• No boundedness decision: throws at 10,000 states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7213A"/>
                </a:solidFill>
                <a:latin typeface="Calibri"/>
              </a:rPr>
              <a:t>• No liveness, no temporal logic, no model checker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7213A"/>
                </a:solidFill>
                <a:latin typeface="Calibri"/>
              </a:rPr>
              <a:t>• Guards stripped before analysis (over-approximation)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7213A"/>
                </a:solidFill>
                <a:latin typeface="Calibri"/>
              </a:rPr>
              <a:t>• Rules path keeps only the state COUNT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7213A"/>
                </a:solidFill>
                <a:latin typeface="Calibri"/>
              </a:rPr>
              <a:t>• Composition never analysed; meta/validators invisible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7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01752"/>
            <a:ext cx="11247120" cy="6400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Where the mathematics lives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000" b="0">
                <a:solidFill>
                  <a:srgbClr val="5B6475"/>
                </a:solidFill>
                <a:latin typeface="Calibri"/>
              </a:rPr>
              <a:t>PetriFlow: architecture review, demos, loopholes, research position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100584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r"/>
            <a:r>
              <a:rPr sz="1000" b="0">
                <a:solidFill>
                  <a:srgbClr val="5B6475"/>
                </a:solidFill>
                <a:latin typeface="Calibri"/>
              </a:rPr>
              <a:t>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698480" cy="18288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ctr"/>
            <a:r>
              <a:rPr sz="3400" b="1">
                <a:solidFill>
                  <a:srgbClr val="2457C5"/>
                </a:solidFill>
                <a:latin typeface="Calibri"/>
              </a:rPr>
              <a:t>All of it is in petri-ts: 208 lines. This repository implements no analysis algorithm.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023360"/>
            <a:ext cx="9966960" cy="18288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/>
            <a:r>
              <a:rPr sz="1800" b="0">
                <a:solidFill>
                  <a:srgbClr val="5B6475"/>
                </a:solidFill>
                <a:latin typeface="Calibri"/>
              </a:rPr>
              <a:t>The gate imports only canFire and fire. It never calls reachableStates, analyse or checkInvariant. Its guard field is declared and never evaluated.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7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01752"/>
            <a:ext cx="11247120" cy="6400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verifyNets: what 'mathematically verified' means for a rule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000" b="0">
                <a:solidFill>
                  <a:srgbClr val="5B6475"/>
                </a:solidFill>
                <a:latin typeface="Calibri"/>
              </a:rPr>
              <a:t>PetriFlow: architecture review, demos, loopholes, research position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100584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r"/>
            <a:r>
              <a:rPr sz="1000" b="0">
                <a:solidFill>
                  <a:srgbClr val="5B6475"/>
                </a:solidFill>
                <a:latin typeface="Calibri"/>
              </a:rPr>
              <a:t>28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7132320" cy="4754880"/>
          </a:xfrm>
          <a:prstGeom prst="rect">
            <a:avLst/>
          </a:prstGeom>
          <a:solidFill>
            <a:srgbClr val="17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6949440" cy="45720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300" b="0">
                <a:solidFill>
                  <a:srgbClr val="E6EAF2"/>
                </a:solidFill>
                <a:latin typeface="Consolas"/>
              </a:rPr>
              <a:t>// packages/rules/src/compiler.ts, lines 388-396</a:t>
            </a:r>
          </a:p>
          <a:p>
            <a:pPr algn="l"/>
            <a:r>
              <a:rPr sz="1300" b="0">
                <a:solidFill>
                  <a:srgbClr val="E6EAF2"/>
                </a:solidFill>
                <a:latin typeface="Consolas"/>
              </a:rPr>
              <a:t>function verifyNets(nets: SkillNet&lt;string&gt;[]): NetVerification[] {</a:t>
            </a:r>
          </a:p>
          <a:p>
            <a:pPr algn="l"/>
            <a:r>
              <a:rPr sz="1300" b="0">
                <a:solidFill>
                  <a:srgbClr val="E6EAF2"/>
                </a:solidFill>
                <a:latin typeface="Consolas"/>
              </a:rPr>
              <a:t>  return nets.map((net) =&gt; {</a:t>
            </a:r>
          </a:p>
          <a:p>
            <a:pPr algn="l"/>
            <a:r>
              <a:rPr sz="1300" b="0">
                <a:solidFill>
                  <a:srgbClr val="E6EAF2"/>
                </a:solidFill>
                <a:latin typeface="Consolas"/>
              </a:rPr>
              <a:t>    const result = analyse(toPetriNet(net));</a:t>
            </a:r>
          </a:p>
          <a:p>
            <a:pPr algn="l"/>
            <a:r>
              <a:rPr sz="1300" b="0">
                <a:solidFill>
                  <a:srgbClr val="E6EAF2"/>
                </a:solidFill>
                <a:latin typeface="Consolas"/>
              </a:rPr>
              <a:t>    return {</a:t>
            </a:r>
          </a:p>
          <a:p>
            <a:pPr algn="l"/>
            <a:r>
              <a:rPr sz="1300" b="0">
                <a:solidFill>
                  <a:srgbClr val="E6EAF2"/>
                </a:solidFill>
                <a:latin typeface="Consolas"/>
              </a:rPr>
              <a:t>      name: net.name,</a:t>
            </a:r>
          </a:p>
          <a:p>
            <a:pPr algn="l"/>
            <a:r>
              <a:rPr sz="1300" b="0">
                <a:solidFill>
                  <a:srgbClr val="E6EAF2"/>
                </a:solidFill>
                <a:latin typeface="Consolas"/>
              </a:rPr>
              <a:t>      reachableStates: result.reachableStateCount,</a:t>
            </a:r>
          </a:p>
          <a:p>
            <a:pPr algn="l"/>
            <a:r>
              <a:rPr sz="1300" b="0">
                <a:solidFill>
                  <a:srgbClr val="E6EAF2"/>
                </a:solidFill>
                <a:latin typeface="Consolas"/>
              </a:rPr>
              <a:t>    };</a:t>
            </a:r>
          </a:p>
          <a:p>
            <a:pPr algn="l"/>
            <a:r>
              <a:rPr sz="1300" b="0">
                <a:solidFill>
                  <a:srgbClr val="E6EAF2"/>
                </a:solidFill>
                <a:latin typeface="Consolas"/>
              </a:rPr>
              <a:t>  });</a:t>
            </a:r>
          </a:p>
          <a:p>
            <a:pPr algn="l"/>
            <a:r>
              <a:rPr sz="1300" b="0">
                <a:solidFill>
                  <a:srgbClr val="E6EAF2"/>
                </a:solidFill>
                <a:latin typeface="Consolas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080760"/>
            <a:ext cx="11247120" cy="365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200" b="0">
                <a:solidFill>
                  <a:srgbClr val="5B6475"/>
                </a:solidFill>
                <a:latin typeface="Calibri"/>
              </a:rPr>
              <a:t>petri-ts also returned isDeadlockFree, terminalStates and invariants. They are discarded. This function cannot fail.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1280160"/>
            <a:ext cx="4023360" cy="48463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17213A"/>
                </a:solidFill>
                <a:latin typeface="Calibri"/>
              </a:rPr>
              <a:t>• toPetriNet drops tools, manual/auto, deferred, toolMapper, validateToolCall, meta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7213A"/>
                </a:solidFill>
                <a:latin typeface="Calibri"/>
              </a:rPr>
              <a:t>• Each net alone, never the AND of all nets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7213A"/>
                </a:solidFill>
                <a:latin typeface="Calibri"/>
              </a:rPr>
              <a:t>• 'verified' = 'we counted 3 states'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7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01752"/>
            <a:ext cx="11247120" cy="6400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The scope of the proof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000" b="0">
                <a:solidFill>
                  <a:srgbClr val="5B6475"/>
                </a:solidFill>
                <a:latin typeface="Calibri"/>
              </a:rPr>
              <a:t>PetriFlow: architecture review, demos, loopholes, research position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100584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r"/>
            <a:r>
              <a:rPr sz="1000" b="0">
                <a:solidFill>
                  <a:srgbClr val="5B6475"/>
                </a:solidFill>
                <a:latin typeface="Calibri"/>
              </a:rPr>
              <a:t>29</a:t>
            </a:r>
          </a:p>
        </p:txBody>
      </p:sp>
      <p:pic>
        <p:nvPicPr>
          <p:cNvPr id="6" name="Picture 5" descr="24-proof-sco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675614"/>
            <a:ext cx="6949440" cy="196397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126480"/>
            <a:ext cx="11247120" cy="365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200" b="0">
                <a:solidFill>
                  <a:srgbClr val="5B6475"/>
                </a:solidFill>
                <a:latin typeface="Calibri"/>
              </a:rPr>
              <a:t>The rails are proven; the driver is not. BENCHMARK.md says this itself.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0" y="1280160"/>
            <a:ext cx="4206240" cy="49377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7213A"/>
                </a:solidFill>
                <a:latin typeface="Calibri"/>
              </a:rPr>
              <a:t>• Proven: which tool NAMES may be called in which ORDER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7213A"/>
                </a:solidFill>
                <a:latin typeface="Calibri"/>
              </a:rPr>
              <a:t>• Not proven: what tools do, what inputs mean, whether the rule file says what you meant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7213A"/>
                </a:solidFill>
                <a:latin typeface="Calibri"/>
              </a:rPr>
              <a:t>• Not proven: anything that depends on a guard or on meta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7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01752"/>
            <a:ext cx="11247120" cy="6400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Website versus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000" b="0">
                <a:solidFill>
                  <a:srgbClr val="5B6475"/>
                </a:solidFill>
                <a:latin typeface="Calibri"/>
              </a:rPr>
              <a:t>PetriFlow: architecture review, demos, loopholes, research position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100584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r"/>
            <a:r>
              <a:rPr sz="1000" b="0">
                <a:solidFill>
                  <a:srgbClr val="5B6475"/>
                </a:solidFill>
                <a:latin typeface="Calibri"/>
              </a:rPr>
              <a:t>30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280160"/>
          <a:ext cx="11247119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48963"/>
                <a:gridCol w="4948732"/>
                <a:gridCol w="2249424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The site says</a:t>
                      </a:r>
                    </a:p>
                  </a:txBody>
                  <a:tcPr>
                    <a:solidFill>
                      <a:srgbClr val="2457C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The code</a:t>
                      </a:r>
                    </a:p>
                  </a:txBody>
                  <a:tcPr>
                    <a:solidFill>
                      <a:srgbClr val="2457C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Where</a:t>
                      </a:r>
                    </a:p>
                  </a:txBody>
                  <a:tcPr>
                    <a:solidFill>
                      <a:srgbClr val="2457C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213A"/>
                          </a:solidFill>
                          <a:latin typeface="Calibri"/>
                        </a:rPr>
                        <a:t>$ petriflow verify ... invariant 'no unguarded delete' PASS, 0 violations across 196 states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213A"/>
                          </a:solidFill>
                          <a:latin typeface="Calibri"/>
                        </a:rPr>
                        <a:t>No verify command; CLI has only analyse. Rules path checks no invariant. 196 is the benchmark workflow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213A"/>
                          </a:solidFill>
                          <a:latin typeface="Calibri"/>
                        </a:rPr>
                        <a:t>cli.ts:25-27; compiler.ts:388-396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213A"/>
                          </a:solidFill>
                          <a:latin typeface="Calibri"/>
                        </a:rPr>
                        <a:t>Layer 1 presets: backupBeforeDelete(), observeBeforeSend(), testBeforeDeploy()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213A"/>
                          </a:solidFill>
                          <a:latin typeface="Calibri"/>
                        </a:rPr>
                        <a:t>Do not exist anywhere in the code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213A"/>
                          </a:solidFill>
                          <a:latin typeface="Calibri"/>
                        </a:rPr>
                        <a:t>grep; only CHANGELOG 0.1.0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213A"/>
                          </a:solidFill>
                          <a:latin typeface="Calibri"/>
                        </a:rPr>
                        <a:t>import from @petriflow/openclaw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213A"/>
                          </a:solidFill>
                          <a:latin typeface="Calibri"/>
                        </a:rPr>
                        <a:t>Package is named @petriflow/petriflow-gate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213A"/>
                          </a:solidFill>
                          <a:latin typeface="Calibri"/>
                        </a:rPr>
                        <a:t>packages/openclaw/package.json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213A"/>
                          </a:solidFill>
                          <a:latin typeface="Calibri"/>
                        </a:rPr>
                        <a:t>Tutorials use openai('gpt-4o')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213A"/>
                          </a:solidFill>
                          <a:latin typeface="Calibri"/>
                        </a:rPr>
                        <a:t>Linked examples use Anthropic; no OpenAI dependency in examples/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213A"/>
                          </a:solidFill>
                          <a:latin typeface="Calibri"/>
                        </a:rPr>
                        <a:t>examples/*/agent.ts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213A"/>
                          </a:solidFill>
                          <a:latin typeface="Calibri"/>
                        </a:rPr>
                        <a:t>WhatsApp trace: 'Agent calls lookup -&gt; OK'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213A"/>
                          </a:solidFill>
                          <a:latin typeface="Calibri"/>
                        </a:rPr>
                        <a:t>First lookup is BLOCKED (loophole L5)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213A"/>
                          </a:solidFill>
                          <a:latin typeface="Calibri"/>
                        </a:rPr>
                        <a:t>labs/loopholes.ts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213A"/>
                          </a:solidFill>
                          <a:latin typeface="Calibri"/>
                        </a:rPr>
                        <a:t>'Formally verified. Structurally enforced.'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213A"/>
                          </a:solidFill>
                          <a:latin typeface="Calibri"/>
                        </a:rPr>
                        <a:t>Enumerated for size; enforced at runtime; verified only where a human wrote a test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213A"/>
                          </a:solidFill>
                          <a:latin typeface="Calibri"/>
                        </a:rPr>
                        <a:t>this deck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213A"/>
                          </a:solidFill>
                          <a:latin typeface="Calibri"/>
                        </a:rPr>
                        <a:t>Tutorial 5: deadlock-free, token conservation, terminal states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213A"/>
                          </a:solidFill>
                          <a:latin typeface="Calibri"/>
                        </a:rPr>
                        <a:t>Really computed by examples/05-openclaw-ops/verify.ts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213A"/>
                          </a:solidFill>
                          <a:latin typeface="Calibri"/>
                        </a:rPr>
                        <a:t>the one justified case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7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01752"/>
            <a:ext cx="11247120" cy="6400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Running the website's example on a company laptop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000" b="0">
                <a:solidFill>
                  <a:srgbClr val="5B6475"/>
                </a:solidFill>
                <a:latin typeface="Calibri"/>
              </a:rPr>
              <a:t>PetriFlow: architecture review, demos, loopholes, research position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100584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r"/>
            <a:r>
              <a:rPr sz="1000" b="0">
                <a:solidFill>
                  <a:srgbClr val="5B6475"/>
                </a:solidFill>
                <a:latin typeface="Calibri"/>
              </a:rPr>
              <a:t>31</a:t>
            </a:r>
          </a:p>
        </p:txBody>
      </p:sp>
      <p:pic>
        <p:nvPicPr>
          <p:cNvPr id="6" name="Picture 5" descr="51-provider-plu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109083"/>
            <a:ext cx="6949440" cy="309703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126480"/>
            <a:ext cx="11247120" cy="365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200" b="0">
                <a:solidFill>
                  <a:srgbClr val="5B6475"/>
                </a:solidFill>
                <a:latin typeface="Calibri"/>
              </a:rPr>
              <a:t>The model is a plug. labs/openai/_model.ts picks MOCK, Azure OpenAI (service principal) or OpenAI from the environment. Nothing under packages/ changes.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0" y="1280160"/>
            <a:ext cx="4206240" cy="49377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7213A"/>
                </a:solidFill>
                <a:latin typeface="Calibri"/>
              </a:rPr>
              <a:t>• Same two rules and five tools as Tutorial 1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7213A"/>
                </a:solidFill>
                <a:latin typeface="Calibri"/>
              </a:rPr>
              <a:t>• Windows-safe paths, inline rules (no URL.pathname bug)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7213A"/>
                </a:solidFill>
                <a:latin typeface="Calibri"/>
              </a:rPr>
              <a:t>• AZURE_OPENAI_ENDPOINT + DEPLOYMENT + TENANT/CLIENT/SECRET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7213A"/>
                </a:solidFill>
                <a:latin typeface="Calibri"/>
              </a:rPr>
              <a:t>• MOCK=1 twin for every lab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7213A"/>
                </a:solidFill>
                <a:latin typeface="Calibri"/>
              </a:rPr>
              <a:t>• Verified: typecheck, mock runs, Entra path with fake credentials (AADSTS90002)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457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058400" cy="7315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800" b="1">
                <a:solidFill>
                  <a:srgbClr val="2457C5"/>
                </a:solidFill>
                <a:latin typeface="Calibri"/>
              </a:rPr>
              <a:t>PART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651760"/>
            <a:ext cx="10515600" cy="13716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4000" b="1">
                <a:solidFill>
                  <a:srgbClr val="17213A"/>
                </a:solidFill>
                <a:latin typeface="Calibri"/>
              </a:rPr>
              <a:t>Loopholes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023360"/>
            <a:ext cx="10515600" cy="10972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2000" b="0">
                <a:solidFill>
                  <a:srgbClr val="5B6475"/>
                </a:solidFill>
                <a:latin typeface="Calibri"/>
              </a:rPr>
              <a:t>Ranked, and each one marked RUN (reproduced) or READ (from source)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73952"/>
            <a:ext cx="100584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r"/>
            <a:r>
              <a:rPr sz="1000" b="0">
                <a:solidFill>
                  <a:srgbClr val="5B6475"/>
                </a:solidFill>
                <a:latin typeface="Calibri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7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01752"/>
            <a:ext cx="11247120" cy="6400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Where the holes sit on the journey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000" b="0">
                <a:solidFill>
                  <a:srgbClr val="5B6475"/>
                </a:solidFill>
                <a:latin typeface="Calibri"/>
              </a:rPr>
              <a:t>PetriFlow: architecture review, demos, loopholes, research position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100584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r"/>
            <a:r>
              <a:rPr sz="1000" b="0">
                <a:solidFill>
                  <a:srgbClr val="5B6475"/>
                </a:solidFill>
                <a:latin typeface="Calibri"/>
              </a:rPr>
              <a:t>33</a:t>
            </a:r>
          </a:p>
        </p:txBody>
      </p:sp>
      <p:pic>
        <p:nvPicPr>
          <p:cNvPr id="6" name="Picture 5" descr="25-loophole-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79328"/>
            <a:ext cx="11247120" cy="415654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126480"/>
            <a:ext cx="11247120" cy="365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/>
            <a:r>
              <a:rPr sz="1200" b="0">
                <a:solidFill>
                  <a:srgbClr val="5B6475"/>
                </a:solidFill>
                <a:latin typeface="Calibri"/>
              </a:rPr>
              <a:t>Names not reality; state wrong or lost; quiet behaviours; engine side; documentation drift.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7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01752"/>
            <a:ext cx="11247120" cy="6400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HIGH: a rule can be bypassed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000" b="0">
                <a:solidFill>
                  <a:srgbClr val="5B6475"/>
                </a:solidFill>
                <a:latin typeface="Calibri"/>
              </a:rPr>
              <a:t>PetriFlow: architecture review, demos, loopholes, research position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100584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r"/>
            <a:r>
              <a:rPr sz="1000" b="0">
                <a:solidFill>
                  <a:srgbClr val="5B6475"/>
                </a:solidFill>
                <a:latin typeface="Calibri"/>
              </a:rPr>
              <a:t>34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280160"/>
          <a:ext cx="112471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356"/>
                <a:gridCol w="7872984"/>
                <a:gridCol w="2811780"/>
              </a:tblGrid>
              <a:tr h="36576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2457C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Loophole</a:t>
                      </a:r>
                    </a:p>
                  </a:txBody>
                  <a:tcPr>
                    <a:solidFill>
                      <a:srgbClr val="2457C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Evidence</a:t>
                      </a:r>
                    </a:p>
                  </a:txBody>
                  <a:tcPr>
                    <a:solidFill>
                      <a:srgbClr val="2457C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7213A"/>
                          </a:solidFill>
                          <a:latin typeface="Calibri"/>
                        </a:rPr>
                        <a:t>L1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7213A"/>
                          </a:solidFill>
                          <a:latin typeface="Calibri"/>
                        </a:rPr>
                        <a:t>Any backup unlocks any delete: the DSL has no data awareness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7213A"/>
                          </a:solidFill>
                          <a:latin typeface="Calibri"/>
                        </a:rPr>
                        <a:t>RUN labs/loopholes.ts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7213A"/>
                          </a:solidFill>
                          <a:latin typeface="Calibri"/>
                        </a:rPr>
                        <a:t>L2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7213A"/>
                          </a:solidFill>
                          <a:latin typeface="Calibri"/>
                        </a:rPr>
                        <a:t>Tool mapping is a regex; find -delete, shutil.rmtree 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7213A"/>
                          </a:solidFill>
                          <a:latin typeface="Calibri"/>
                        </a:rPr>
                        <a:t>RUN labs/loopholes.ts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7213A"/>
                          </a:solidFill>
                          <a:latin typeface="Calibri"/>
                        </a:rPr>
                        <a:t>L6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7213A"/>
                          </a:solidFill>
                          <a:latin typeface="Calibri"/>
                        </a:rPr>
                        <a:t>Replay trusts client-supplied history: forged 'test passed' unlocks deploy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7213A"/>
                          </a:solidFill>
                          <a:latin typeface="Calibri"/>
                        </a:rPr>
                        <a:t>RUN labs/openai/03-spoof.ts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7213A"/>
                          </a:solidFill>
                          <a:latin typeface="Calibri"/>
                        </a:rPr>
                        <a:t>L7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7213A"/>
                          </a:solidFill>
                          <a:latin typeface="Calibri"/>
                        </a:rPr>
                        <a:t>Repo examples set isToolResultError to () =&gt; false: {ok:false} counts as success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7213A"/>
                          </a:solidFill>
                          <a:latin typeface="Calibri"/>
                        </a:rPr>
                        <a:t>READ examples/01/agent.ts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7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01752"/>
            <a:ext cx="11247120" cy="6400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MEDIUM and 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000" b="0">
                <a:solidFill>
                  <a:srgbClr val="5B6475"/>
                </a:solidFill>
                <a:latin typeface="Calibri"/>
              </a:rPr>
              <a:t>PetriFlow: architecture review, demos, loopholes, research position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100584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r"/>
            <a:r>
              <a:rPr sz="1000" b="0">
                <a:solidFill>
                  <a:srgbClr val="5B6475"/>
                </a:solidFill>
                <a:latin typeface="Calibri"/>
              </a:rPr>
              <a:t>35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280160"/>
          <a:ext cx="11247119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2240"/>
                <a:gridCol w="7985455"/>
                <a:gridCol w="2249424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2457C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Loophole</a:t>
                      </a:r>
                    </a:p>
                  </a:txBody>
                  <a:tcPr>
                    <a:solidFill>
                      <a:srgbClr val="2457C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Evidence</a:t>
                      </a:r>
                    </a:p>
                  </a:txBody>
                  <a:tcPr>
                    <a:solidFill>
                      <a:srgbClr val="2457C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213A"/>
                          </a:solidFill>
                          <a:latin typeface="Calibri"/>
                        </a:rPr>
                        <a:t>L3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213A"/>
                          </a:solidFill>
                          <a:latin typeface="Calibri"/>
                        </a:rPr>
                        <a:t>Mutually blocking rules pass 'verification' (composition never analysed)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213A"/>
                          </a:solidFill>
                          <a:latin typeface="Calibri"/>
                        </a:rPr>
                        <a:t>RUN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213A"/>
                          </a:solidFill>
                          <a:latin typeface="Calibri"/>
                        </a:rPr>
                        <a:t>L5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213A"/>
                          </a:solidFill>
                          <a:latin typeface="Calibri"/>
                        </a:rPr>
                        <a:t>Per-action limit blocks the refill action while budget is full (site trace wrong)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213A"/>
                          </a:solidFill>
                          <a:latin typeface="Calibri"/>
                        </a:rPr>
                        <a:t>RUN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213A"/>
                          </a:solidFill>
                          <a:latin typeface="Calibri"/>
                        </a:rPr>
                        <a:t>L8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213A"/>
                          </a:solidFill>
                          <a:latin typeface="Calibri"/>
                        </a:rPr>
                        <a:t>Hanging tool freezes a deferred transition; no timeout or cleanup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213A"/>
                          </a:solidFill>
                          <a:latin typeface="Calibri"/>
                        </a:rPr>
                        <a:t>READ wrap-tools.ts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213A"/>
                          </a:solidFill>
                          <a:latin typeface="Calibri"/>
                        </a:rPr>
                        <a:t>L9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213A"/>
                          </a:solidFill>
                          <a:latin typeface="Calibri"/>
                        </a:rPr>
                        <a:t>claude-code: /tmp JSON, read-modify-write without lock; parallel calls beat 'limit 1'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213A"/>
                          </a:solidFill>
                          <a:latin typeface="Calibri"/>
                        </a:rPr>
                        <a:t>READ state.ts, hook.ts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213A"/>
                          </a:solidFill>
                          <a:latin typeface="Calibri"/>
                        </a:rPr>
                        <a:t>L10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213A"/>
                          </a:solidFill>
                          <a:latin typeface="Calibri"/>
                        </a:rPr>
                        <a:t>openclaw: FIFO matching per tool name; out-of-order results resolve the wrong call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213A"/>
                          </a:solidFill>
                          <a:latin typeface="Calibri"/>
                        </a:rPr>
                        <a:t>READ openclaw/src/index.ts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213A"/>
                          </a:solidFill>
                          <a:latin typeface="Calibri"/>
                        </a:rPr>
                        <a:t>L11/12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213A"/>
                          </a:solidFill>
                          <a:latin typeface="Calibri"/>
                        </a:rPr>
                        <a:t>First matching transition wins; autoAdvance stops silently on ambiguity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213A"/>
                          </a:solidFill>
                          <a:latin typeface="Calibri"/>
                        </a:rPr>
                        <a:t>READ compose.ts, advance.ts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213A"/>
                          </a:solidFill>
                          <a:latin typeface="Calibri"/>
                        </a:rPr>
                        <a:t>L13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213A"/>
                          </a:solidFill>
                          <a:latin typeface="Calibri"/>
                        </a:rPr>
                        <a:t>Human approval impossible in claude-code and openclaw (hasUI false): permanent block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213A"/>
                          </a:solidFill>
                          <a:latin typeface="Calibri"/>
                        </a:rPr>
                        <a:t>READ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213A"/>
                          </a:solidFill>
                          <a:latin typeface="Calibri"/>
                        </a:rPr>
                        <a:t>L14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213A"/>
                          </a:solidFill>
                          <a:latin typeface="Calibri"/>
                        </a:rPr>
                        <a:t>Guards invisible to analysis; --strict never checks isDeadlockFree despite its help text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213A"/>
                          </a:solidFill>
                          <a:latin typeface="Calibri"/>
                        </a:rPr>
                        <a:t>READ toNet, cli.ts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213A"/>
                          </a:solidFill>
                          <a:latin typeface="Calibri"/>
                        </a:rPr>
                        <a:t>L16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213A"/>
                          </a:solidFill>
                          <a:latin typeface="Calibri"/>
                        </a:rPr>
                        <a:t>Two versions of the core library live at once (gate -&gt; engine 0.1.3 -&gt; petri-ts 0.1.6)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213A"/>
                          </a:solidFill>
                          <a:latin typeface="Calibri"/>
                        </a:rPr>
                        <a:t>READ node_modules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213A"/>
                          </a:solidFill>
                          <a:latin typeface="Calibri"/>
                        </a:rPr>
                        <a:t>L4/17/18/19/20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213A"/>
                          </a:solidFill>
                          <a:latin typeface="Calibri"/>
                        </a:rPr>
                        <a:t>Limits count attempts; per-call session limits; block text guides injected models; viewer hard-codes 8 'holds: true'; docs drift, Windows unsupported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213A"/>
                          </a:solidFill>
                          <a:latin typeface="Calibri"/>
                        </a:rPr>
                        <a:t>RUN/READ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7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01752"/>
            <a:ext cx="11247120" cy="6400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What is NOT a loophole (fairness)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000" b="0">
                <a:solidFill>
                  <a:srgbClr val="5B6475"/>
                </a:solidFill>
                <a:latin typeface="Calibri"/>
              </a:rPr>
              <a:t>PetriFlow: architecture review, demos, loopholes, research position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100584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r"/>
            <a:r>
              <a:rPr sz="1000" b="0">
                <a:solidFill>
                  <a:srgbClr val="5B6475"/>
                </a:solidFill>
                <a:latin typeface="Calibri"/>
              </a:rPr>
              <a:t>36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1064240" cy="50292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17213A"/>
                </a:solidFill>
                <a:latin typeface="Calibri"/>
              </a:rPr>
              <a:t>• Four-phase decision with meta rollback and a TOCTOU re-check: careful, tested engineering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17213A"/>
                </a:solidFill>
                <a:latin typeface="Calibri"/>
              </a:rPr>
              <a:t>• Deferred transitions are the right design for 'require A before B'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17213A"/>
                </a:solidFill>
                <a:latin typeface="Calibri"/>
              </a:rPr>
              <a:t>• AND composition is sound: a new net can only remove behaviours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17213A"/>
                </a:solidFill>
                <a:latin typeface="Calibri"/>
              </a:rPr>
              <a:t>• Block messages the model can act on: a sensible hypothesis (not measured in the repo)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17213A"/>
                </a:solidFill>
                <a:latin typeface="Calibri"/>
              </a:rPr>
              <a:t>• 597 tests, with real enumeration-based property assertions on the engine workflows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457C5"/>
                </a:solidFill>
                <a:latin typeface="Calibri"/>
              </a:rPr>
              <a:t>• One-sentence summary: it proves which tool NAMES may be called in which ORDER, from a history it is told to trust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457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058400" cy="7315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800" b="1">
                <a:solidFill>
                  <a:srgbClr val="2457C5"/>
                </a:solidFill>
                <a:latin typeface="Calibri"/>
              </a:rPr>
              <a:t>PART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651760"/>
            <a:ext cx="10515600" cy="13716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4000" b="1">
                <a:solidFill>
                  <a:srgbClr val="17213A"/>
                </a:solidFill>
                <a:latin typeface="Calibri"/>
              </a:rPr>
              <a:t>Self-evolving agents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023360"/>
            <a:ext cx="10515600" cy="10972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2000" b="0">
                <a:solidFill>
                  <a:srgbClr val="5B6475"/>
                </a:solidFill>
                <a:latin typeface="Calibri"/>
              </a:rPr>
              <a:t>Where a static Petri-net gate sits relative to the 2025-2026 frontier, and what to research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73952"/>
            <a:ext cx="100584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r"/>
            <a:r>
              <a:rPr sz="1000" b="0">
                <a:solidFill>
                  <a:srgbClr val="5B6475"/>
                </a:solidFill>
                <a:latin typeface="Calibri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7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100" b="1">
                <a:solidFill>
                  <a:srgbClr val="9FB0DA"/>
                </a:solidFill>
                <a:latin typeface="Calibri"/>
              </a:rPr>
              <a:t>RESEARCH, 10 OCTOBER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01752"/>
            <a:ext cx="11247120" cy="6400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What 'self-evolving agent' means (two surveys)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000" b="0">
                <a:solidFill>
                  <a:srgbClr val="5B6475"/>
                </a:solidFill>
                <a:latin typeface="Calibri"/>
              </a:rPr>
              <a:t>PetriFlow: architecture review, demos, loopholes, research position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73952"/>
            <a:ext cx="100584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r"/>
            <a:r>
              <a:rPr sz="1000" b="0">
                <a:solidFill>
                  <a:srgbClr val="5B6475"/>
                </a:solidFill>
                <a:latin typeface="Calibri"/>
              </a:rPr>
              <a:t>38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80160"/>
            <a:ext cx="11064240" cy="50292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17213A"/>
                </a:solidFill>
                <a:latin typeface="Calibri"/>
              </a:rPr>
              <a:t>• Gao et al. 2025/26 (arXiv:2507.21046, TMLR): WHAT evolves (weights, prompts/memory, tools, workflow), WHEN (in-task vs between tasks), HOW (reward, imitation, evolutionary)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17213A"/>
                </a:solidFill>
                <a:latin typeface="Calibri"/>
              </a:rPr>
              <a:t>• Fang et al. 2025 (arXiv:2508.07407): a loop of inputs -&gt; agent -&gt; environment -&gt; OPTIMISERS that rewrite prompts, memory, tools, workflows or the model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17213A"/>
                </a:solidFill>
                <a:latin typeface="Calibri"/>
              </a:rPr>
              <a:t>• Working definition: a deployed agent that persistently changes a reusable part of itself from feedback on its own runs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17213A"/>
                </a:solidFill>
                <a:latin typeface="Calibri"/>
              </a:rPr>
              <a:t>• Both surveys list verification and sandboxing only as FUTURE work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7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01752"/>
            <a:ext cx="11247120" cy="6400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Landmark systems and what evolves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000" b="0">
                <a:solidFill>
                  <a:srgbClr val="5B6475"/>
                </a:solidFill>
                <a:latin typeface="Calibri"/>
              </a:rPr>
              <a:t>PetriFlow: architecture review, demos, loopholes, research position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100584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r"/>
            <a:r>
              <a:rPr sz="1000" b="0">
                <a:solidFill>
                  <a:srgbClr val="5B6475"/>
                </a:solidFill>
                <a:latin typeface="Calibri"/>
              </a:rPr>
              <a:t>39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280160"/>
          <a:ext cx="1124712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74136"/>
                <a:gridCol w="3936492"/>
                <a:gridCol w="3936492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System</a:t>
                      </a:r>
                    </a:p>
                  </a:txBody>
                  <a:tcPr>
                    <a:solidFill>
                      <a:srgbClr val="2457C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What evolves</a:t>
                      </a:r>
                    </a:p>
                  </a:txBody>
                  <a:tcPr>
                    <a:solidFill>
                      <a:srgbClr val="2457C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Result / note</a:t>
                      </a:r>
                    </a:p>
                  </a:txBody>
                  <a:tcPr>
                    <a:solidFill>
                      <a:srgbClr val="2457C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213A"/>
                          </a:solidFill>
                          <a:latin typeface="Calibri"/>
                        </a:rPr>
                        <a:t>Reflexion 2023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213A"/>
                          </a:solidFill>
                          <a:latin typeface="Calibri"/>
                        </a:rPr>
                        <a:t>episodic text memory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213A"/>
                          </a:solidFill>
                          <a:latin typeface="Calibri"/>
                        </a:rPr>
                        <a:t>no weight updates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213A"/>
                          </a:solidFill>
                          <a:latin typeface="Calibri"/>
                        </a:rPr>
                        <a:t>Voyager 2023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213A"/>
                          </a:solidFill>
                          <a:latin typeface="Calibri"/>
                        </a:rPr>
                        <a:t>a library of executable skills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213A"/>
                          </a:solidFill>
                          <a:latin typeface="Calibri"/>
                        </a:rPr>
                        <a:t>lifelong Minecraft agent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213A"/>
                          </a:solidFill>
                          <a:latin typeface="Calibri"/>
                        </a:rPr>
                        <a:t>ADAS 2024 / AFlow ICLR 2025 / MASS ICLR 2026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213A"/>
                          </a:solidFill>
                          <a:latin typeface="Calibri"/>
                        </a:rPr>
                        <a:t>whole agent as code / workflow graph / prompts + topology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213A"/>
                          </a:solidFill>
                          <a:latin typeface="Calibri"/>
                        </a:rPr>
                        <a:t>search over designs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213A"/>
                          </a:solidFill>
                          <a:latin typeface="Calibri"/>
                        </a:rPr>
                        <a:t>SICA 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213A"/>
                          </a:solidFill>
                          <a:latin typeface="Calibri"/>
                        </a:rPr>
                        <a:t>its own code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213A"/>
                          </a:solidFill>
                          <a:latin typeface="Calibri"/>
                        </a:rPr>
                        <a:t>17% -&gt; 53% on a SWE subset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213A"/>
                          </a:solidFill>
                          <a:latin typeface="Calibri"/>
                        </a:rPr>
                        <a:t>Darwin Goedel Machine 2025 (ICLR 2026)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213A"/>
                          </a:solidFill>
                          <a:latin typeface="Calibri"/>
                        </a:rPr>
                        <a:t>its own codebase, archive of variants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213A"/>
                          </a:solidFill>
                          <a:latin typeface="Calibri"/>
                        </a:rPr>
                        <a:t>SWE-bench 20.0 -&gt; 50.0%; one run FAKED a test log and removed detection markers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213A"/>
                          </a:solidFill>
                          <a:latin typeface="Calibri"/>
                        </a:rPr>
                        <a:t>AlphaEvolve 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213A"/>
                          </a:solidFill>
                          <a:latin typeface="Calibri"/>
                        </a:rPr>
                        <a:t>programs, picked by automated evaluators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213A"/>
                          </a:solidFill>
                          <a:latin typeface="Calibri"/>
                        </a:rPr>
                        <a:t>the artefact evolves, not the agent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213A"/>
                          </a:solidFill>
                          <a:latin typeface="Calibri"/>
                        </a:rPr>
                        <a:t>Huxley-GM, Hyperagents, Red Queen GM 2026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213A"/>
                          </a:solidFill>
                          <a:latin typeface="Calibri"/>
                        </a:rPr>
                        <a:t>selection by descendants; the meta-agent itself; agents AND their evaluators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213A"/>
                          </a:solidFill>
                          <a:latin typeface="Calibri"/>
                        </a:rPr>
                        <a:t>the judge is now inside the loop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213A"/>
                          </a:solidFill>
                          <a:latin typeface="Calibri"/>
                        </a:rPr>
                        <a:t>Lean4Agent / LeanEvolve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213A"/>
                          </a:solidFill>
                          <a:latin typeface="Calibri"/>
                        </a:rPr>
                        <a:t>workflows revised from formal-verifier output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213A"/>
                          </a:solidFill>
                          <a:latin typeface="Calibri"/>
                        </a:rPr>
                        <a:t>verifier output as the evolution signal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7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01752"/>
            <a:ext cx="11247120" cy="6400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Safety findings specific to self-evolution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000" b="0">
                <a:solidFill>
                  <a:srgbClr val="5B6475"/>
                </a:solidFill>
                <a:latin typeface="Calibri"/>
              </a:rPr>
              <a:t>PetriFlow: architecture review, demos, loopholes, research position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100584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r"/>
            <a:r>
              <a:rPr sz="1000" b="0">
                <a:solidFill>
                  <a:srgbClr val="5B6475"/>
                </a:solidFill>
                <a:latin typeface="Calibri"/>
              </a:rPr>
              <a:t>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1064240" cy="50292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7213A"/>
                </a:solidFill>
                <a:latin typeface="Calibri"/>
              </a:rPr>
              <a:t>• Misevolution (Shao et al., ICLR 2026): safety decays INSIDE the improvement loop, no attacker; four pathways: model, memory, tool, workflow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7213A"/>
                </a:solidFill>
                <a:latin typeface="Calibri"/>
              </a:rPr>
              <a:t>• Benign experience still weakens safety; adding refusal experience causes over-refusal (Findings of ACL 2026)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7213A"/>
                </a:solidFill>
                <a:latin typeface="Calibri"/>
              </a:rPr>
              <a:t>• Finance audit (arXiv:2608.17684): utility 0.741 -&gt; 0.837 while injection exposure 0.820 -&gt; 0.943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7213A"/>
                </a:solidFill>
                <a:latin typeface="Calibri"/>
              </a:rPr>
              <a:t>• Verifier tax (Dantas et al., arXiv:2608.14590): blocking 94% of unsafe actions can leave &lt; 5% safe task completion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7213A"/>
                </a:solidFill>
                <a:latin typeface="Calibri"/>
              </a:rPr>
              <a:t>• Fixed monitors have entropy-bounded recall (arXiv:2608.01388): 68-75% on concentrated attacks, 6-13% on dispersed ones. Loophole L2 in theory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7213A"/>
                </a:solidFill>
                <a:latin typeface="Calibri"/>
              </a:rPr>
              <a:t>• 'Agent Safety Is Action Alignment' (arXiv:2606.28739): enforce least privilege at the action boundary, outside the weights. That is a tool gate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7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01752"/>
            <a:ext cx="11247120" cy="6400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The neighbourhood: formal guardrails for LLM 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000" b="0">
                <a:solidFill>
                  <a:srgbClr val="5B6475"/>
                </a:solidFill>
                <a:latin typeface="Calibri"/>
              </a:rPr>
              <a:t>PetriFlow: architecture review, demos, loopholes, research position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100584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r"/>
            <a:r>
              <a:rPr sz="1000" b="0">
                <a:solidFill>
                  <a:srgbClr val="5B6475"/>
                </a:solidFill>
                <a:latin typeface="Calibri"/>
              </a:rPr>
              <a:t>41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280160"/>
          <a:ext cx="11247118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9308"/>
                <a:gridCol w="4723790"/>
                <a:gridCol w="3824020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Work</a:t>
                      </a:r>
                    </a:p>
                  </a:txBody>
                  <a:tcPr>
                    <a:solidFill>
                      <a:srgbClr val="2457C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Mechanism</a:t>
                      </a:r>
                    </a:p>
                  </a:txBody>
                  <a:tcPr>
                    <a:solidFill>
                      <a:srgbClr val="2457C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Relation to PetriFlow</a:t>
                      </a:r>
                    </a:p>
                  </a:txBody>
                  <a:tcPr>
                    <a:solidFill>
                      <a:srgbClr val="2457C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213A"/>
                          </a:solidFill>
                          <a:latin typeface="Calibri"/>
                        </a:rPr>
                        <a:t>adk-libpetri (GitHub, 2026)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213A"/>
                          </a:solidFill>
                          <a:latin typeface="Calibri"/>
                        </a:rPr>
                        <a:t>Google ADK agents compiled to Coloured Time Petri nets; Z3 proves deadlock-freedom before execution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213A"/>
                          </a:solidFill>
                          <a:latin typeface="Calibri"/>
                        </a:rPr>
                        <a:t>closest relative; already has named, checked properties ('proofs are structural and untimed')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213A"/>
                          </a:solidFill>
                          <a:latin typeface="Calibri"/>
                        </a:rPr>
                        <a:t>Czejdo et al., DepCoS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213A"/>
                          </a:solidFill>
                          <a:latin typeface="Calibri"/>
                        </a:rPr>
                        <a:t>Petri-net reachability for LLM multi-agent synchronisation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213A"/>
                          </a:solidFill>
                          <a:latin typeface="Calibri"/>
                        </a:rPr>
                        <a:t>same maths, academic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213A"/>
                          </a:solidFill>
                          <a:latin typeface="Calibri"/>
                        </a:rPr>
                        <a:t>AgentSpec (ICSE 2026), Progent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213A"/>
                          </a:solidFill>
                          <a:latin typeface="Calibri"/>
                        </a:rPr>
                        <a:t>trigger-predicate-enforcement DSLs at the tool boundary; Progent allows LLM-generated, dynamically updated policies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213A"/>
                          </a:solidFill>
                          <a:latin typeface="Calibri"/>
                        </a:rPr>
                        <a:t>same job as the gate, richer predicates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213A"/>
                          </a:solidFill>
                          <a:latin typeface="Calibri"/>
                        </a:rPr>
                        <a:t>VeriGuard (ACL 2026)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213A"/>
                          </a:solidFill>
                          <a:latin typeface="Calibri"/>
                        </a:rPr>
                        <a:t>LLM drafts a policy as code, verified offline, light monitor online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213A"/>
                          </a:solidFill>
                          <a:latin typeface="Calibri"/>
                        </a:rPr>
                        <a:t>the 'verify then enforce' split PetriFlow claims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213A"/>
                          </a:solidFill>
                          <a:latin typeface="Calibri"/>
                        </a:rPr>
                        <a:t>ContrAgent, CaMeLoT, AgentLTL, Agent-C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213A"/>
                          </a:solidFill>
                          <a:latin typeface="Calibri"/>
                        </a:rPr>
                        <a:t>LTLf/CTL specs compiled to automata or checked with nuXmv/SMT; gate tool calls or steer decoding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213A"/>
                          </a:solidFill>
                          <a:latin typeface="Calibri"/>
                        </a:rPr>
                        <a:t>temporal properties PetriFlow cannot express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7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01752"/>
            <a:ext cx="11247120" cy="6400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Where PetriFlow stands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000" b="0">
                <a:solidFill>
                  <a:srgbClr val="5B6475"/>
                </a:solidFill>
                <a:latin typeface="Calibri"/>
              </a:rPr>
              <a:t>PetriFlow: architecture review, demos, loopholes, research position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100584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r"/>
            <a:r>
              <a:rPr sz="1000" b="0">
                <a:solidFill>
                  <a:srgbClr val="5B6475"/>
                </a:solidFill>
                <a:latin typeface="Calibri"/>
              </a:rPr>
              <a:t>42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698480" cy="18288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ctr"/>
            <a:r>
              <a:rPr sz="3400" b="1">
                <a:solidFill>
                  <a:srgbClr val="2457C5"/>
                </a:solidFill>
                <a:latin typeface="Calibri"/>
              </a:rPr>
              <a:t>It does not evolve, by design. That is orthogonal to the frontier, not behind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023360"/>
            <a:ext cx="9966960" cy="18288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/>
            <a:r>
              <a:rPr sz="1800" b="0">
                <a:solidFill>
                  <a:srgbClr val="5B6475"/>
                </a:solidFill>
                <a:latin typeface="Calibri"/>
              </a:rPr>
              <a:t>Grep for evolve / learn / adapt / improve finds nothing in the code. Rules compile once and run unchanged. The research shows safety eroding exactly in the parts that evolve, which makes a fixed gate outside the agent's edit scope more useful, if it can be trusted.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7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01752"/>
            <a:ext cx="11247120" cy="6400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Research agenda that connects the two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000" b="0">
                <a:solidFill>
                  <a:srgbClr val="5B6475"/>
                </a:solidFill>
                <a:latin typeface="Calibri"/>
              </a:rPr>
              <a:t>PetriFlow: architecture review, demos, loopholes, research position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100584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r"/>
            <a:r>
              <a:rPr sz="1000" b="0">
                <a:solidFill>
                  <a:srgbClr val="5B6475"/>
                </a:solidFill>
                <a:latin typeface="Calibri"/>
              </a:rPr>
              <a:t>43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280160"/>
          <a:ext cx="1124712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356"/>
                <a:gridCol w="5061204"/>
                <a:gridCol w="2811780"/>
                <a:gridCol w="2811780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2457C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Direction</a:t>
                      </a:r>
                    </a:p>
                  </a:txBody>
                  <a:tcPr>
                    <a:solidFill>
                      <a:srgbClr val="2457C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What the repo already has</a:t>
                      </a:r>
                    </a:p>
                  </a:txBody>
                  <a:tcPr>
                    <a:solidFill>
                      <a:srgbClr val="2457C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What is missing</a:t>
                      </a:r>
                    </a:p>
                  </a:txBody>
                  <a:tcPr>
                    <a:solidFill>
                      <a:srgbClr val="2457C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213A"/>
                          </a:solidFill>
                          <a:latin typeface="Calibri"/>
                        </a:rPr>
                        <a:t>R1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213A"/>
                          </a:solidFill>
                          <a:latin typeface="Calibri"/>
                        </a:rPr>
                        <a:t>Rules as the evolvable artefact under a verifier (accept a .rules edit only if composed net is deadlock-free and properties hold)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213A"/>
                          </a:solidFill>
                          <a:latin typeface="Calibri"/>
                        </a:rPr>
                        <a:t>compile(), per-net enumeration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213A"/>
                          </a:solidFill>
                          <a:latin typeface="Calibri"/>
                        </a:rPr>
                        <a:t>composed analysis; a property language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213A"/>
                          </a:solidFill>
                          <a:latin typeface="Calibri"/>
                        </a:rPr>
                        <a:t>R2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213A"/>
                          </a:solidFill>
                          <a:latin typeface="Calibri"/>
                        </a:rPr>
                        <a:t>Monotone safety: adding a rule only tightens; when can a rule be REMOVED safely?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213A"/>
                          </a:solidFill>
                          <a:latin typeface="Calibri"/>
                        </a:rPr>
                        <a:t>AND composition, addNet/removeNet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213A"/>
                          </a:solidFill>
                          <a:latin typeface="Calibri"/>
                        </a:rPr>
                        <a:t>a theorem and a check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213A"/>
                          </a:solidFill>
                          <a:latin typeface="Calibri"/>
                        </a:rPr>
                        <a:t>R3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213A"/>
                          </a:solidFill>
                          <a:latin typeface="Calibri"/>
                        </a:rPr>
                        <a:t>Reachability and block events as an evolution signal for AFlow/DGM-style search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213A"/>
                          </a:solidFill>
                          <a:latin typeface="Calibri"/>
                        </a:rPr>
                        <a:t>onDecision events, analyse()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213A"/>
                          </a:solidFill>
                          <a:latin typeface="Calibri"/>
                        </a:rPr>
                        <a:t>a harness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213A"/>
                          </a:solidFill>
                          <a:latin typeface="Calibri"/>
                        </a:rPr>
                        <a:t>R4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213A"/>
                          </a:solidFill>
                          <a:latin typeface="Calibri"/>
                        </a:rPr>
                        <a:t>Evidence integrity: state from server-observed results, signed history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213A"/>
                          </a:solidFill>
                          <a:latin typeface="Calibri"/>
                        </a:rPr>
                        <a:t>replay from messages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213A"/>
                          </a:solidFill>
                          <a:latin typeface="Calibri"/>
                        </a:rPr>
                        <a:t>anything that stops L6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213A"/>
                          </a:solidFill>
                          <a:latin typeface="Calibri"/>
                        </a:rPr>
                        <a:t>R5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213A"/>
                          </a:solidFill>
                          <a:latin typeface="Calibri"/>
                        </a:rPr>
                        <a:t>Data-aware rules (coloured nets): backup OF x before delete OF x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213A"/>
                          </a:solidFill>
                          <a:latin typeface="Calibri"/>
                        </a:rPr>
                        <a:t>meta + validateToolCall in JS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213A"/>
                          </a:solidFill>
                          <a:latin typeface="Calibri"/>
                        </a:rPr>
                        <a:t>DSL syntax and bounded-colour enumeration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213A"/>
                          </a:solidFill>
                          <a:latin typeface="Calibri"/>
                        </a:rPr>
                        <a:t>R6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213A"/>
                          </a:solidFill>
                          <a:latin typeface="Calibri"/>
                        </a:rPr>
                        <a:t>Classification beyond regex, measured against the entropy bound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213A"/>
                          </a:solidFill>
                          <a:latin typeface="Calibri"/>
                        </a:rPr>
                        <a:t>map statements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213A"/>
                          </a:solidFill>
                          <a:latin typeface="Calibri"/>
                        </a:rPr>
                        <a:t>AST or sandbox classifier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213A"/>
                          </a:solidFill>
                          <a:latin typeface="Calibri"/>
                        </a:rPr>
                        <a:t>R7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213A"/>
                          </a:solidFill>
                          <a:latin typeface="Calibri"/>
                        </a:rPr>
                        <a:t>Guard-aware analysis (SMT over filtrex) so --strict stops over-approximating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213A"/>
                          </a:solidFill>
                          <a:latin typeface="Calibri"/>
                        </a:rPr>
                        <a:t>toNet, compileGuard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213A"/>
                          </a:solidFill>
                          <a:latin typeface="Calibri"/>
                        </a:rPr>
                        <a:t>the solver</a:t>
                      </a:r>
                    </a:p>
                  </a:txBody>
                  <a:tcPr>
                    <a:solidFill>
                      <a:srgbClr val="F5F7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213A"/>
                          </a:solidFill>
                          <a:latin typeface="Calibri"/>
                        </a:rPr>
                        <a:t>R8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213A"/>
                          </a:solidFill>
                          <a:latin typeface="Calibri"/>
                        </a:rPr>
                        <a:t>Measure the 0.3.0 claim: do marking-style block messages improve recovery?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213A"/>
                          </a:solidFill>
                          <a:latin typeface="Calibri"/>
                        </a:rPr>
                        <a:t>formatBlockReason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7213A"/>
                          </a:solidFill>
                          <a:latin typeface="Calibri"/>
                        </a:rPr>
                        <a:t>an experiment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7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01752"/>
            <a:ext cx="11247120" cy="6400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Conclusions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000" b="0">
                <a:solidFill>
                  <a:srgbClr val="5B6475"/>
                </a:solidFill>
                <a:latin typeface="Calibri"/>
              </a:rPr>
              <a:t>PetriFlow: architecture review, demos, loopholes, research position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100584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r"/>
            <a:r>
              <a:rPr sz="1000" b="0">
                <a:solidFill>
                  <a:srgbClr val="5B6475"/>
                </a:solidFill>
                <a:latin typeface="Calibri"/>
              </a:rPr>
              <a:t>44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1064240" cy="50292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7213A"/>
                </a:solidFill>
                <a:latin typeface="Calibri"/>
              </a:rPr>
              <a:t>• A real runtime gate: four-phase decision, deferred firing, AND composition, adapters for five frameworks. Small and readable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7213A"/>
                </a:solidFill>
                <a:latin typeface="Calibri"/>
              </a:rPr>
              <a:t>• Real but minimal mathematics, all in a 208-line external library; the repo adds a terminal-state split and nothing symbolic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7213A"/>
                </a:solidFill>
                <a:latin typeface="Calibri"/>
              </a:rPr>
              <a:t>• 'Formally verified' on the website means 'state count per rule'. No verify command, no invariant check in the rules path, one wrong headline trace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7213A"/>
                </a:solidFill>
                <a:latin typeface="Calibri"/>
              </a:rPr>
              <a:t>• Six loopholes reproduced by running code; the forged-history one is a design consequence of a stateless gate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7213A"/>
                </a:solidFill>
                <a:latin typeface="Calibri"/>
              </a:rPr>
              <a:t>• Zero self-evolution in the repo, by design. The literature says that is where a fixed gate is needed, provided composition analysis, a property language and evidence integrity are added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457C5"/>
                </a:solidFill>
                <a:latin typeface="Calibri"/>
              </a:rPr>
              <a:t>• Recommendation: use the DSL and gate for ordering constraints on tool names; do not cite it as formal verification; pick R1, R2, R4 as the research thread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7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01752"/>
            <a:ext cx="11247120" cy="6400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Appendix: run everything yourself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000" b="0">
                <a:solidFill>
                  <a:srgbClr val="5B6475"/>
                </a:solidFill>
                <a:latin typeface="Calibri"/>
              </a:rPr>
              <a:t>PetriFlow: architecture review, demos, loopholes, research position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100584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r"/>
            <a:r>
              <a:rPr sz="1000" b="0">
                <a:solidFill>
                  <a:srgbClr val="5B6475"/>
                </a:solidFill>
                <a:latin typeface="Calibri"/>
              </a:rPr>
              <a:t>45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11247120" cy="4754880"/>
          </a:xfrm>
          <a:prstGeom prst="rect">
            <a:avLst/>
          </a:prstGeom>
          <a:solidFill>
            <a:srgbClr val="17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1064240" cy="45720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300" b="0">
                <a:solidFill>
                  <a:srgbClr val="E6EAF2"/>
                </a:solidFill>
                <a:latin typeface="Consolas"/>
              </a:rPr>
              <a:t>git clone https://github.com/joshuaisaact/petri-flow &amp;&amp; cd petri-flow</a:t>
            </a:r>
          </a:p>
          <a:p>
            <a:pPr algn="l"/>
            <a:r>
              <a:rPr sz="1300" b="0">
                <a:solidFill>
                  <a:srgbClr val="E6EAF2"/>
                </a:solidFill>
                <a:latin typeface="Consolas"/>
              </a:rPr>
              <a:t>bun install &amp;&amp; bun run build &amp;&amp; bun test                    # 597 tests (17 Windows-only failures)</a:t>
            </a:r>
          </a:p>
          <a:p>
            <a:pPr algn="l"/>
            <a:r>
              <a:rPr sz="1300" b="0">
                <a:solidFill>
                  <a:srgbClr val="E6EAF2"/>
                </a:solidFill>
                <a:latin typeface="Consolas"/>
              </a:rPr>
              <a:t>bun packages/cli/src/cli.ts analyse workflows/order-checkout/index.ts --strict</a:t>
            </a:r>
          </a:p>
          <a:p>
            <a:pPr algn="l"/>
            <a:r>
              <a:rPr sz="1300" b="0">
                <a:solidFill>
                  <a:srgbClr val="E6EAF2"/>
                </a:solidFill>
                <a:latin typeface="Consolas"/>
              </a:rPr>
              <a:t>bun run labs/gate-playground.ts                             # demo 2</a:t>
            </a:r>
          </a:p>
          <a:p>
            <a:pPr algn="l"/>
            <a:r>
              <a:rPr sz="1300" b="0">
                <a:solidFill>
                  <a:srgbClr val="E6EAF2"/>
                </a:solidFill>
                <a:latin typeface="Consolas"/>
              </a:rPr>
              <a:t>bun run labs/loopholes.ts                                   # demo 7</a:t>
            </a:r>
          </a:p>
          <a:p>
            <a:pPr algn="l"/>
            <a:r>
              <a:rPr sz="1300" b="0">
                <a:solidFill>
                  <a:srgbClr val="E6EAF2"/>
                </a:solidFill>
                <a:latin typeface="Consolas"/>
              </a:rPr>
              <a:t>MOCK=1 bun run labs/openai/01-file-agent.ts                 # demo 4, no key</a:t>
            </a:r>
          </a:p>
          <a:p>
            <a:pPr algn="l"/>
            <a:r>
              <a:rPr sz="1300" b="0">
                <a:solidFill>
                  <a:srgbClr val="E6EAF2"/>
                </a:solidFill>
                <a:latin typeface="Consolas"/>
              </a:rPr>
              <a:t>MOCK=1 bun run labs/openai/03-server.ts  &amp;  bun run labs/openai/03-spoof.ts   # demo 6</a:t>
            </a:r>
          </a:p>
          <a:p>
            <a:pPr algn="l"/>
            <a:r>
              <a:rPr sz="1300" b="0">
                <a:solidFill>
                  <a:srgbClr val="E6EAF2"/>
                </a:solidFill>
                <a:latin typeface="Consolas"/>
              </a:rPr>
              <a:t>export AZURE_OPENAI_ENDPOINT=... AZURE_OPENAI_DEPLOYMENT=... AZURE_TENANT_ID=... \</a:t>
            </a:r>
          </a:p>
          <a:p>
            <a:pPr algn="l"/>
            <a:r>
              <a:rPr sz="1300" b="0">
                <a:solidFill>
                  <a:srgbClr val="E6EAF2"/>
                </a:solidFill>
                <a:latin typeface="Consolas"/>
              </a:rPr>
              <a:t>       AZURE_CLIENT_ID=... AZURE_CLIENT_SECRET=...        # then drop MOCK=1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080760"/>
            <a:ext cx="11247120" cy="365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200" b="0">
                <a:solidFill>
                  <a:srgbClr val="5B6475"/>
                </a:solidFill>
                <a:latin typeface="Calibri"/>
              </a:rPr>
              <a:t>The labs/ folder, all chapters as text, all diagrams and the four long guides are in the companion repository (ppp).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